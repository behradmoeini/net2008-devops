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8" r:id="rId3"/>
    <p:sldId id="259" r:id="rId4"/>
    <p:sldId id="271" r:id="rId5"/>
    <p:sldId id="261" r:id="rId6"/>
    <p:sldId id="270" r:id="rId7"/>
    <p:sldId id="262" r:id="rId8"/>
    <p:sldId id="263" r:id="rId9"/>
    <p:sldId id="267" r:id="rId10"/>
    <p:sldId id="26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2779" autoAdjust="0"/>
  </p:normalViewPr>
  <p:slideViewPr>
    <p:cSldViewPr snapToGrid="0" snapToObjects="1">
      <p:cViewPr varScale="1">
        <p:scale>
          <a:sx n="66" d="100"/>
          <a:sy n="66" d="100"/>
        </p:scale>
        <p:origin x="6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81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CA" b="1" dirty="0"/>
              <a:t>The DevOps Idea</a:t>
            </a:r>
            <a:endParaRPr lang="en-CA" dirty="0"/>
          </a:p>
          <a:p>
            <a:pPr marL="171450" lvl="0" indent="-171450">
              <a:buFont typeface="Arial" panose="020B0604020202020204" pitchFamily="34" charset="0"/>
              <a:buChar char="•"/>
            </a:pPr>
            <a:r>
              <a:rPr lang="en-CA" dirty="0"/>
              <a:t>Bring Development, QA and Operations together</a:t>
            </a:r>
          </a:p>
          <a:p>
            <a:pPr marL="171450" lvl="0" indent="-171450">
              <a:buFont typeface="Arial" panose="020B0604020202020204" pitchFamily="34" charset="0"/>
              <a:buChar char="•"/>
            </a:pPr>
            <a:r>
              <a:rPr lang="en-CA" dirty="0"/>
              <a:t>Shared responsibility </a:t>
            </a:r>
          </a:p>
          <a:p>
            <a:pPr marL="171450" lvl="0" indent="-171450">
              <a:buFont typeface="Arial" panose="020B0604020202020204" pitchFamily="34" charset="0"/>
              <a:buChar char="•"/>
            </a:pPr>
            <a:r>
              <a:rPr lang="en-CA" dirty="0"/>
              <a:t>Automation/pipelines</a:t>
            </a:r>
          </a:p>
          <a:p>
            <a:pPr marL="171450" lvl="0" indent="-171450">
              <a:buFont typeface="Arial" panose="020B0604020202020204" pitchFamily="34" charset="0"/>
              <a:buChar char="•"/>
            </a:pPr>
            <a:r>
              <a:rPr lang="en-CA" dirty="0"/>
              <a:t>Continuous feedback </a:t>
            </a:r>
          </a:p>
          <a:p>
            <a:pPr marL="171450" lvl="0" indent="-171450">
              <a:buFont typeface="Arial" panose="020B0604020202020204" pitchFamily="34" charset="0"/>
              <a:buChar char="•"/>
            </a:pPr>
            <a:r>
              <a:rPr lang="en-CA" dirty="0"/>
              <a:t>Faster and safer delivery</a:t>
            </a:r>
          </a:p>
          <a:p>
            <a:pPr marL="171450" lvl="0" indent="-171450">
              <a:buFont typeface="Arial" panose="020B0604020202020204" pitchFamily="34" charset="0"/>
              <a:buChar char="•"/>
            </a:pPr>
            <a:endParaRPr lang="en-CA" dirty="0"/>
          </a:p>
          <a:p>
            <a:r>
              <a:rPr lang="en-CA" dirty="0"/>
              <a:t>Note that DevOps absolutely involves </a:t>
            </a:r>
            <a:r>
              <a:rPr lang="en-CA" b="0" dirty="0"/>
              <a:t>automated testing</a:t>
            </a:r>
            <a:r>
              <a:rPr lang="en-CA" dirty="0"/>
              <a:t>, but that doesn't mean the DevOps Engineer replaces the QA/Test Engineer nor the Developer:</a:t>
            </a:r>
            <a:br>
              <a:rPr lang="en-CA" dirty="0"/>
            </a:br>
            <a:r>
              <a:rPr lang="en-CA" b="1" dirty="0"/>
              <a:t>Software Developer: </a:t>
            </a:r>
            <a:r>
              <a:rPr lang="en-CA" dirty="0"/>
              <a:t>Build the application</a:t>
            </a:r>
          </a:p>
          <a:p>
            <a:r>
              <a:rPr lang="en-CA" b="1" dirty="0"/>
              <a:t>QA/Test Engineer: </a:t>
            </a:r>
            <a:r>
              <a:rPr lang="en-CA" dirty="0"/>
              <a:t>Determine whether the application works correctly</a:t>
            </a:r>
          </a:p>
          <a:p>
            <a:r>
              <a:rPr lang="en-CA" b="1" dirty="0"/>
              <a:t>DevOps Engineer: </a:t>
            </a:r>
            <a:r>
              <a:rPr lang="en-CA" dirty="0"/>
              <a:t>Automate and enable the process of building, testing, deploying and operating it</a:t>
            </a:r>
          </a:p>
          <a:p>
            <a:r>
              <a:rPr lang="en-CA" b="1" dirty="0"/>
              <a:t>Security Engineer: </a:t>
            </a:r>
            <a:r>
              <a:rPr lang="en-CA" dirty="0"/>
              <a:t>Make the system secure</a:t>
            </a:r>
          </a:p>
          <a:p>
            <a:endParaRPr lang="en-CA" dirty="0"/>
          </a:p>
          <a:p>
            <a:pPr marL="0" lvl="0" indent="0">
              <a:buFont typeface="Arial" panose="020B0604020202020204" pitchFamily="34" charset="0"/>
              <a:buNone/>
            </a:pPr>
            <a:endParaRPr lang="en-CA"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6BC7B-217C-9924-2A1D-DBB023E16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539FA-2164-C07C-2092-38FB9B7F01AB}"/>
              </a:ext>
            </a:extLst>
          </p:cNvPr>
          <p:cNvSpPr>
            <a:spLocks noGrp="1" noRot="1" noChangeAspect="1"/>
          </p:cNvSpPr>
          <p:nvPr>
            <p:ph type="sldImg"/>
          </p:nvPr>
        </p:nvSpPr>
        <p:spPr/>
        <p:txBody>
          <a:bodyPr/>
          <a:p/>
        </p:txBody>
      </p:sp>
      <p:sp>
        <p:nvSpPr>
          <p:cNvPr id="3" name="Notes Placeholder 2">
            <a:extLst>
              <a:ext uri="{FF2B5EF4-FFF2-40B4-BE49-F238E27FC236}">
                <a16:creationId xmlns:a16="http://schemas.microsoft.com/office/drawing/2014/main" id="{EDC810D3-051C-64A8-74A3-FFBF10AF16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b="1" dirty="0"/>
              <a:t>Development side (Dev)</a:t>
            </a:r>
          </a:p>
          <a:p>
            <a:pPr marL="228600" indent="-228600" rtl="0">
              <a:buAutoNum type="arabicPeriod"/>
            </a:pPr>
            <a:r>
              <a:rPr lang="en-CA" b="1" dirty="0"/>
              <a:t>Plan</a:t>
            </a:r>
            <a:br>
              <a:rPr lang="en-CA" dirty="0"/>
            </a:br>
            <a:r>
              <a:rPr lang="en-CA" dirty="0"/>
              <a:t>Teams define what needs to be built — new feature(s)/user stories, bug fixes/performance improvements, requirements, security updates, and priorities. This is where product managers, developers, testers, SW security, and stakeholders align on scope. Tools like Jira is commonly used here.</a:t>
            </a:r>
          </a:p>
          <a:p>
            <a:pPr marL="228600" indent="-228600" rtl="0">
              <a:buAutoNum type="arabicPeriod"/>
            </a:pPr>
            <a:endParaRPr lang="en-CA" dirty="0"/>
          </a:p>
          <a:p>
            <a:pPr rtl="0"/>
            <a:r>
              <a:rPr lang="en-CA" b="1" dirty="0"/>
              <a:t>2. Code</a:t>
            </a:r>
            <a:br>
              <a:rPr lang="en-CA" dirty="0"/>
            </a:br>
            <a:r>
              <a:rPr lang="en-CA" dirty="0"/>
              <a:t>Developers write the actual application code, following agreed-upon practices and requirements. This includes using version control (like Git) and code reviews. The goal is clean, maintainable, and well-documented code.</a:t>
            </a:r>
          </a:p>
          <a:p>
            <a:pPr rtl="0"/>
            <a:endParaRPr lang="en-CA" dirty="0"/>
          </a:p>
          <a:p>
            <a:pPr rtl="0"/>
            <a:r>
              <a:rPr lang="en-CA" b="1" dirty="0"/>
              <a:t>3. Build</a:t>
            </a:r>
            <a:br>
              <a:rPr lang="en-CA" dirty="0"/>
            </a:br>
            <a:r>
              <a:rPr lang="en-CA" dirty="0"/>
              <a:t>The source code is compiled/packaged into a runnable artifact (binaries, containers, executables), something that can actually be executed or deployed. This step often includes dependency resolution, static code analysis, and increasingly, containerization — packaging the app and its runtime environment into a Docker image. Note that build automation tools like Maven, Gradle, Webpack can be used in this step.</a:t>
            </a:r>
          </a:p>
          <a:p>
            <a:pPr rtl="0"/>
            <a:endParaRPr lang="en-CA" dirty="0"/>
          </a:p>
          <a:p>
            <a:pPr rtl="0"/>
            <a:r>
              <a:rPr lang="en-CA" b="1" dirty="0"/>
              <a:t>4. Test</a:t>
            </a:r>
            <a:br>
              <a:rPr lang="en-CA" dirty="0"/>
            </a:br>
            <a:r>
              <a:rPr lang="en-CA" dirty="0"/>
              <a:t>Automated (and sometimes manual) tests in different levels verify the software works as intended:</a:t>
            </a:r>
          </a:p>
          <a:p>
            <a:pPr marL="171450" indent="-171450">
              <a:buFont typeface="Arial" panose="020B0604020202020204" pitchFamily="34" charset="0"/>
              <a:buChar char="•"/>
            </a:pPr>
            <a:r>
              <a:rPr lang="en-CA" b="1" dirty="0"/>
              <a:t>Unit tests &lt; </a:t>
            </a:r>
            <a:r>
              <a:rPr lang="en-CA" dirty="0"/>
              <a:t>Developer</a:t>
            </a:r>
          </a:p>
          <a:p>
            <a:pPr marL="171450" indent="-171450">
              <a:buFont typeface="Arial" panose="020B0604020202020204" pitchFamily="34" charset="0"/>
              <a:buChar char="•"/>
            </a:pPr>
            <a:r>
              <a:rPr lang="en-CA" b="1" dirty="0"/>
              <a:t>Integration tests</a:t>
            </a:r>
            <a:r>
              <a:rPr lang="en-CA" dirty="0"/>
              <a:t>&lt; Developer + QA</a:t>
            </a:r>
          </a:p>
          <a:p>
            <a:pPr marL="171450" indent="-171450">
              <a:buFont typeface="Arial" panose="020B0604020202020204" pitchFamily="34" charset="0"/>
              <a:buChar char="•"/>
            </a:pPr>
            <a:r>
              <a:rPr lang="en-CA" b="1" dirty="0"/>
              <a:t>API tests &lt; </a:t>
            </a:r>
            <a:r>
              <a:rPr lang="en-CA" dirty="0"/>
              <a:t>Developer + QA</a:t>
            </a:r>
          </a:p>
          <a:p>
            <a:pPr marL="171450" indent="-171450">
              <a:buFont typeface="Arial" panose="020B0604020202020204" pitchFamily="34" charset="0"/>
              <a:buChar char="•"/>
            </a:pPr>
            <a:r>
              <a:rPr lang="en-CA" b="1" dirty="0"/>
              <a:t>End-to-end tests</a:t>
            </a:r>
            <a:r>
              <a:rPr lang="en-CA" dirty="0"/>
              <a:t> &lt; QA + Developer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1" kern="1200" dirty="0">
                <a:solidFill>
                  <a:schemeClr val="tx1"/>
                </a:solidFill>
                <a:latin typeface="+mn-lt"/>
                <a:ea typeface="+mn-ea"/>
                <a:cs typeface="+mn-cs"/>
              </a:rPr>
              <a:t>Regression tests </a:t>
            </a:r>
            <a:r>
              <a:rPr lang="en-CA" dirty="0"/>
              <a:t>&lt; QA</a:t>
            </a:r>
          </a:p>
          <a:p>
            <a:pPr marL="171450" indent="-171450">
              <a:buFont typeface="Arial" panose="020B0604020202020204" pitchFamily="34" charset="0"/>
              <a:buChar char="•"/>
            </a:pPr>
            <a:r>
              <a:rPr lang="en-CA" b="1" dirty="0"/>
              <a:t>Performance/load tests &gt; </a:t>
            </a:r>
            <a:r>
              <a:rPr lang="en-CA" dirty="0"/>
              <a:t>QA/Performance Engineer</a:t>
            </a:r>
          </a:p>
          <a:p>
            <a:pPr marL="171450" indent="-171450">
              <a:buFont typeface="Arial" panose="020B0604020202020204" pitchFamily="34" charset="0"/>
              <a:buChar char="•"/>
            </a:pPr>
            <a:r>
              <a:rPr lang="en-CA" b="1" dirty="0"/>
              <a:t>Security testing &lt; </a:t>
            </a:r>
            <a:r>
              <a:rPr lang="en-CA" dirty="0"/>
              <a:t>Security/</a:t>
            </a:r>
            <a:r>
              <a:rPr lang="en-CA" dirty="0" err="1"/>
              <a:t>DevSecOps</a:t>
            </a:r>
            <a:endParaRPr lang="en-CA" dirty="0"/>
          </a:p>
          <a:p>
            <a:pPr marL="171450" indent="-171450">
              <a:buFont typeface="Arial" panose="020B0604020202020204" pitchFamily="34" charset="0"/>
              <a:buChar char="•"/>
            </a:pPr>
            <a:r>
              <a:rPr lang="en-CA" b="1" dirty="0"/>
              <a:t>Test automation infrastructure in CI/CD</a:t>
            </a:r>
            <a:r>
              <a:rPr lang="en-CA" dirty="0"/>
              <a:t> &lt; DevOps</a:t>
            </a:r>
          </a:p>
          <a:p>
            <a:pPr marL="171450" indent="-171450">
              <a:buFont typeface="Arial" panose="020B0604020202020204" pitchFamily="34" charset="0"/>
              <a:buChar char="•"/>
            </a:pPr>
            <a:r>
              <a:rPr lang="en-CA" b="1" dirty="0"/>
              <a:t>Analyzing production failures &lt; </a:t>
            </a:r>
            <a:r>
              <a:rPr lang="en-CA" dirty="0"/>
              <a:t>SRE (who is in charge of </a:t>
            </a:r>
            <a:r>
              <a:rPr lang="en-CA" sz="1200" kern="1200" dirty="0">
                <a:solidFill>
                  <a:schemeClr val="tx1"/>
                </a:solidFill>
                <a:latin typeface="+mn-lt"/>
                <a:ea typeface="+mn-ea"/>
                <a:cs typeface="+mn-cs"/>
              </a:rPr>
              <a:t>reliability, availability, scalability, monitoring, and incident response </a:t>
            </a:r>
            <a:r>
              <a:rPr lang="en-CA" dirty="0"/>
              <a:t>of production systems.)</a:t>
            </a:r>
          </a:p>
          <a:p>
            <a:pPr marL="171450" indent="-171450">
              <a:buFont typeface="Arial" panose="020B0604020202020204" pitchFamily="34" charset="0"/>
              <a:buChar char="•"/>
            </a:pPr>
            <a:endParaRPr lang="en-CA" dirty="0"/>
          </a:p>
          <a:p>
            <a:pPr marL="0" indent="0">
              <a:buFont typeface="Arial" panose="020B0604020202020204" pitchFamily="34" charset="0"/>
              <a:buNone/>
            </a:pPr>
            <a:r>
              <a:rPr lang="en-CA" dirty="0"/>
              <a:t>The goal is to catch bugs before they reach production. Tools include Selenium, JUnit, </a:t>
            </a:r>
            <a:r>
              <a:rPr lang="en-CA" dirty="0" err="1"/>
              <a:t>pytest</a:t>
            </a:r>
            <a:r>
              <a:rPr lang="en-CA" dirty="0"/>
              <a:t> are commonly used.</a:t>
            </a:r>
          </a:p>
          <a:p>
            <a:pPr rtl="0"/>
            <a:endParaRPr lang="en-CA" dirty="0"/>
          </a:p>
          <a:p>
            <a:pPr rtl="0"/>
            <a:endParaRPr lang="en-CA" dirty="0"/>
          </a:p>
          <a:p>
            <a:pPr rtl="0"/>
            <a:r>
              <a:rPr lang="en-CA" b="1" dirty="0"/>
              <a:t>The bridge: Release</a:t>
            </a:r>
          </a:p>
          <a:p>
            <a:pPr rtl="0"/>
            <a:r>
              <a:rPr lang="en-CA" dirty="0"/>
              <a:t>Once code passes testing, it's approved and scheduled for deployment (usually by the product manager). This often involves versioning, release notes, release artifacts, publish the container images, and staging environment validation. Release management ensures the right version reaches production at the right time.</a:t>
            </a:r>
          </a:p>
          <a:p>
            <a:pPr rtl="0"/>
            <a:endParaRPr lang="en-CA" dirty="0"/>
          </a:p>
          <a:p>
            <a:pPr rtl="0"/>
            <a:r>
              <a:rPr lang="en-CA" b="1" dirty="0"/>
              <a:t>Operations side (Ops)</a:t>
            </a:r>
          </a:p>
          <a:p>
            <a:pPr rtl="0"/>
            <a:r>
              <a:rPr lang="en-CA" b="1" dirty="0"/>
              <a:t>5. Deploy</a:t>
            </a:r>
            <a:br>
              <a:rPr lang="en-CA" dirty="0"/>
            </a:br>
            <a:r>
              <a:rPr lang="en-CA" dirty="0"/>
              <a:t>The approved build code is pushed to production environment. This can be automated via CI/CD pipelines using tools like Kubernetes, Ansible, or cloud-native deployment services. Infrastructure-as-Code tools such as Terraform can be used to provision and configure the infrastructure required for the deployment.</a:t>
            </a:r>
          </a:p>
          <a:p>
            <a:pPr rtl="0"/>
            <a:r>
              <a:rPr lang="en-CA" b="0" dirty="0"/>
              <a:t>Terraform &gt; provision infrastructure</a:t>
            </a:r>
            <a:br>
              <a:rPr lang="en-CA" b="0" dirty="0"/>
            </a:br>
            <a:r>
              <a:rPr lang="en-CA" b="0" dirty="0"/>
              <a:t>Ansible &gt; configure infrastructure/software</a:t>
            </a:r>
            <a:br>
              <a:rPr lang="en-CA" b="0" dirty="0"/>
            </a:br>
            <a:r>
              <a:rPr lang="en-CA" b="0" dirty="0"/>
              <a:t>Kubernetes &gt; run and manage containerized applications</a:t>
            </a:r>
            <a:endParaRPr lang="en-CA" sz="1200" b="1" kern="1200" dirty="0">
              <a:solidFill>
                <a:schemeClr val="tx1"/>
              </a:solidFill>
              <a:latin typeface="+mn-lt"/>
              <a:ea typeface="+mn-ea"/>
              <a:cs typeface="+mn-cs"/>
            </a:endParaRPr>
          </a:p>
          <a:p>
            <a:pPr rtl="0"/>
            <a:endParaRPr lang="en-CA" b="0" dirty="0"/>
          </a:p>
          <a:p>
            <a:pPr rtl="0"/>
            <a:r>
              <a:rPr lang="en-CA" dirty="0"/>
              <a:t>Techniques like blue-green deployment (blue: the current live version serving all real traffic, green: the new version which is fully deployed, but not yet receiving traffic) or canary release (expose the new version to a </a:t>
            </a:r>
            <a:r>
              <a:rPr lang="en-CA" b="0" dirty="0"/>
              <a:t>small subset </a:t>
            </a:r>
            <a:r>
              <a:rPr lang="en-CA" dirty="0"/>
              <a:t>of real users first, and gradually increase exposure if things look healthy) reduce risk.</a:t>
            </a:r>
          </a:p>
          <a:p>
            <a:pPr rtl="0"/>
            <a:endParaRPr lang="en-CA" dirty="0"/>
          </a:p>
          <a:p>
            <a:pPr rtl="0"/>
            <a:r>
              <a:rPr lang="en-CA" b="1" dirty="0"/>
              <a:t>6. Operate</a:t>
            </a:r>
            <a:br>
              <a:rPr lang="en-CA" dirty="0"/>
            </a:br>
            <a:r>
              <a:rPr lang="en-CA" dirty="0"/>
              <a:t>Once live, the system needs to be managed day-to-day — scaling infrastructure, managing configurations, handling incidents, and ensuring uptime. This is where SRE (Site Reliability Engineering) practices, load balancing, and infrastructure-as-code come into play.</a:t>
            </a:r>
          </a:p>
          <a:p>
            <a:pPr rtl="0"/>
            <a:endParaRPr lang="en-CA" dirty="0"/>
          </a:p>
          <a:p>
            <a:pPr rtl="0"/>
            <a:r>
              <a:rPr lang="en-CA" b="1" dirty="0"/>
              <a:t>7. Monitor</a:t>
            </a:r>
            <a:br>
              <a:rPr lang="en-CA" dirty="0"/>
            </a:br>
            <a:r>
              <a:rPr lang="en-CA" dirty="0"/>
              <a:t>Teams continuously track system health, performance, and user behavior using logging, metrics, and alerting tools (like ELK, Nagios, or Zabbix). Monitoring surfaces issues before they become outages and generates data that flows back into planning — feeding the next iteration of the loop.</a:t>
            </a:r>
          </a:p>
          <a:p>
            <a:pPr rtl="0"/>
            <a:endParaRPr lang="en-CA" dirty="0"/>
          </a:p>
          <a:p>
            <a:pPr rtl="0"/>
            <a:r>
              <a:rPr lang="en-CA" dirty="0"/>
              <a:t>The cycle then loops back to </a:t>
            </a:r>
            <a:r>
              <a:rPr lang="en-CA" b="1" dirty="0"/>
              <a:t>Plan</a:t>
            </a:r>
            <a:r>
              <a:rPr lang="en-CA" dirty="0"/>
              <a:t>, using insights from monitoring to inform the next set of features or fixes — which is why it's drawn as a continuous infinity loop rather than a linear pipeline.</a:t>
            </a:r>
          </a:p>
          <a:p>
            <a:endParaRPr lang="en-US" dirty="0"/>
          </a:p>
        </p:txBody>
      </p:sp>
      <p:sp>
        <p:nvSpPr>
          <p:cNvPr id="4" name="Slide Number Placeholder 3">
            <a:extLst>
              <a:ext uri="{FF2B5EF4-FFF2-40B4-BE49-F238E27FC236}">
                <a16:creationId xmlns:a16="http://schemas.microsoft.com/office/drawing/2014/main" id="{EC1BBDD1-48C6-CE89-0E0E-56B87D54F83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349705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CA" b="1" dirty="0"/>
              <a:t>Canada — $120,668/yr · entry $92,500 · experienced $147,767</a:t>
            </a:r>
            <a:br>
              <a:rPr lang="en-CA" dirty="0"/>
            </a:br>
            <a:r>
              <a:rPr lang="en-CA" dirty="0"/>
              <a:t>https://ca.talent.com/salary?job=devops+engineer</a:t>
            </a:r>
          </a:p>
          <a:p>
            <a:endParaRPr lang="en-CA" b="1" dirty="0"/>
          </a:p>
          <a:p>
            <a:r>
              <a:rPr lang="en-CA" dirty="0"/>
              <a:t>For </a:t>
            </a:r>
            <a:r>
              <a:rPr lang="en-CA" b="1" dirty="0"/>
              <a:t>Ottawa</a:t>
            </a:r>
            <a:r>
              <a:rPr lang="en-CA" dirty="0"/>
              <a:t>, Indeed currently reports:</a:t>
            </a:r>
          </a:p>
          <a:p>
            <a:r>
              <a:rPr lang="en-CA" b="1" dirty="0"/>
              <a:t>DevOps Engineer: $129,337 CAD/year average</a:t>
            </a:r>
            <a:br>
              <a:rPr lang="en-CA" dirty="0"/>
            </a:br>
            <a:r>
              <a:rPr lang="en-CA" b="1" dirty="0"/>
              <a:t>Senior DevOps Engineer: $134,440 CAD/year average</a:t>
            </a:r>
            <a:endParaRPr lang="en-CA" dirty="0"/>
          </a:p>
          <a:p>
            <a:endParaRPr lang="en-US" dirty="0"/>
          </a:p>
          <a:p>
            <a:r>
              <a:rPr lang="en-US" dirty="0"/>
              <a:t>https://ca.indeed.com/career/devops-engineer/salaries/Ottawa--ON</a:t>
            </a:r>
          </a:p>
          <a:p>
            <a:r>
              <a:rPr lang="en-US" dirty="0"/>
              <a:t>https://ca.indeed.com/career/senior-devops-engineer/salaries/Ottawa--ON</a:t>
            </a:r>
          </a:p>
          <a:p>
            <a:endParaRPr lang="en-US" dirty="0"/>
          </a:p>
          <a:p>
            <a:r>
              <a:rPr lang="en-CA" b="1" dirty="0"/>
              <a:t>United States — Average: ~$133,662 USD/year, Typical range: ~$86,361–$206,868</a:t>
            </a:r>
            <a:endParaRPr lang="en-CA" dirty="0"/>
          </a:p>
          <a:p>
            <a:r>
              <a:rPr lang="en-CA" dirty="0"/>
              <a:t>Indeed, August 2026</a:t>
            </a:r>
            <a:br>
              <a:rPr lang="en-CA" dirty="0"/>
            </a:br>
            <a:r>
              <a:rPr lang="en-CA" dirty="0"/>
              <a:t>https://www.indeed.com/career/devops-engineer/salaries</a:t>
            </a:r>
          </a:p>
          <a:p>
            <a:endParaRPr lang="en-CA" dirty="0"/>
          </a:p>
          <a:p>
            <a:r>
              <a:rPr lang="en-CA" dirty="0"/>
              <a:t>Salary.com reports a </a:t>
            </a:r>
            <a:r>
              <a:rPr lang="en-CA" b="1" dirty="0"/>
              <a:t>$134,599 average</a:t>
            </a:r>
            <a:r>
              <a:rPr lang="en-CA" dirty="0"/>
              <a:t> as of September 2026, with experience-based estimates ranging from approximately </a:t>
            </a:r>
            <a:r>
              <a:rPr lang="en-CA" b="1" dirty="0"/>
              <a:t>$82,382 for entry-level</a:t>
            </a:r>
            <a:r>
              <a:rPr lang="en-CA" dirty="0"/>
              <a:t> to </a:t>
            </a:r>
            <a:r>
              <a:rPr lang="en-CA" b="1" dirty="0"/>
              <a:t>$149,922 for senior-level (5–8 years)</a:t>
            </a:r>
            <a:r>
              <a:rPr lang="en-CA" dirty="0"/>
              <a:t> and </a:t>
            </a:r>
            <a:r>
              <a:rPr lang="en-CA" b="1" dirty="0"/>
              <a:t>$165,642 for 8+ years</a:t>
            </a:r>
            <a:r>
              <a:rPr lang="en-CA" dirty="0"/>
              <a:t>.</a:t>
            </a:r>
          </a:p>
          <a:p>
            <a:r>
              <a:rPr lang="en-CA" dirty="0"/>
              <a:t>https://www.salary.com/research/salary/listing/devops-engineer-salary</a:t>
            </a:r>
            <a:endParaRPr lang="en-US" dirty="0"/>
          </a:p>
          <a:p>
            <a:endParaRPr lang="en-US" dirty="0"/>
          </a:p>
          <a:p>
            <a:r>
              <a:rPr lang="en-US" dirty="0"/>
              <a:t>---</a:t>
            </a:r>
          </a:p>
          <a:p>
            <a:r>
              <a:rPr lang="en-CA" b="1" dirty="0"/>
              <a:t>Job Demand &amp; Growth</a:t>
            </a:r>
          </a:p>
          <a:p>
            <a:endParaRPr lang="en-US" dirty="0"/>
          </a:p>
          <a:p>
            <a:r>
              <a:rPr lang="en-CA" dirty="0"/>
              <a:t>Canada's Job Bank lists </a:t>
            </a:r>
            <a:r>
              <a:rPr lang="en-CA" b="1" dirty="0"/>
              <a:t>DevOps Engineer</a:t>
            </a:r>
            <a:r>
              <a:rPr lang="en-CA" dirty="0"/>
              <a:t> under the broader </a:t>
            </a:r>
            <a:r>
              <a:rPr lang="en-CA" b="1" dirty="0"/>
              <a:t>Software Engineers and Designers (NOC 21231)</a:t>
            </a:r>
            <a:r>
              <a:rPr lang="en-CA" dirty="0"/>
              <a:t> occupation. The national 2024–2033 outlook indicates that labour demand and supply are expected to be broadly in balance, although prospects vary considerably by province.</a:t>
            </a:r>
          </a:p>
          <a:p>
            <a:endParaRPr lang="en-CA" dirty="0"/>
          </a:p>
          <a:p>
            <a:r>
              <a:rPr lang="en-CA" dirty="0"/>
              <a:t>There is </a:t>
            </a:r>
            <a:r>
              <a:rPr lang="en-CA" b="1" dirty="0"/>
              <a:t>no dedicated U.S. BLS occupation/SOC for "DevOps Engineer."</a:t>
            </a:r>
            <a:r>
              <a:rPr lang="en-CA" dirty="0"/>
              <a:t> DevOps roles overlap several occupations, including software development, systems/infrastructure, cloud, and SRE.</a:t>
            </a:r>
          </a:p>
          <a:p>
            <a:r>
              <a:rPr lang="en-CA" dirty="0"/>
              <a:t>A useful indicator is the BLS projection for </a:t>
            </a:r>
            <a:r>
              <a:rPr lang="en-CA" b="1" dirty="0"/>
              <a:t>Software Developers</a:t>
            </a:r>
            <a:r>
              <a:rPr lang="en-CA" dirty="0"/>
              <a:t>, which is projected to grow </a:t>
            </a:r>
            <a:r>
              <a:rPr lang="en-CA" b="1" dirty="0"/>
              <a:t>16% from 2024–2034</a:t>
            </a:r>
            <a:r>
              <a:rPr lang="en-CA" dirty="0"/>
              <a:t>. The broader category of </a:t>
            </a:r>
            <a:r>
              <a:rPr lang="en-CA" b="1" dirty="0"/>
              <a:t>software developers, QA analysts and testers</a:t>
            </a:r>
            <a:r>
              <a:rPr lang="en-CA" dirty="0"/>
              <a:t> is projected to grow </a:t>
            </a:r>
            <a:r>
              <a:rPr lang="en-CA" b="1" dirty="0"/>
              <a:t>15%</a:t>
            </a:r>
            <a:r>
              <a:rPr lang="en-CA" dirty="0"/>
              <a:t> over the same period.</a:t>
            </a:r>
          </a:p>
          <a:p>
            <a:endParaRPr lang="en-US" dirty="0"/>
          </a:p>
          <a:p>
            <a:r>
              <a:rPr lang="en-US" dirty="0"/>
              <a:t>https://www.bls.gov/ooh/computer-and-information-technology/software-developers.htm</a:t>
            </a:r>
          </a:p>
          <a:p>
            <a:endParaRPr lang="en-US" dirty="0"/>
          </a:p>
          <a:p>
            <a:r>
              <a:rPr lang="en-CA" dirty="0"/>
              <a:t>IEEE-USA also identifies </a:t>
            </a:r>
            <a:r>
              <a:rPr lang="en-CA" b="1" dirty="0"/>
              <a:t>software developers</a:t>
            </a:r>
            <a:r>
              <a:rPr lang="en-CA" dirty="0"/>
              <a:t> among seven technology occupations projected to experience double-digit employment growth through 2034.</a:t>
            </a:r>
          </a:p>
          <a:p>
            <a:r>
              <a:rPr lang="en-US" dirty="0"/>
              <a:t>https://insight.ieeeusa.org/articles/seven-tech-occupations-poised-for-double-digit-job-growth-by-2034/</a:t>
            </a:r>
          </a:p>
          <a:p>
            <a:endParaRPr lang="en-US" dirty="0"/>
          </a:p>
          <a:p>
            <a:r>
              <a:rPr lang="en-US" dirty="0"/>
              <a:t>---</a:t>
            </a:r>
          </a:p>
          <a:p>
            <a:r>
              <a:rPr lang="en-US" dirty="0"/>
              <a:t>Sample job posting:</a:t>
            </a:r>
            <a:br>
              <a:rPr lang="en-US" dirty="0"/>
            </a:br>
            <a:r>
              <a:rPr lang="en-US" dirty="0"/>
              <a:t>https://ca.jooble.org/rjdp/7758290854988074769?utm_campaign=google_jobs_apply&amp;utm_source=google_jobs_apply&amp;utm_medium=organic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Point: DevOps started in software engineering, but the mindset — automation, version control, continuous feedback, shared ownership — has proven general. Every field that combines engineering with running things in production has adopted it under a new name. MLOps for machine learning, AIOps for AI-driven IT operations, DataOps for data engineering, DevSecOps for security, NetOps for networks, FinOps for cloud cost. The tools you learn here transfer directly. Learning DevOps well opens the door to whichever specialization the industry needs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28"/>
        </a:solidFill>
        <a:effectLst/>
      </p:bgPr>
    </p:bg>
    <p:spTree>
      <p:nvGrpSpPr>
        <p:cNvPr id="1" name=""/>
        <p:cNvGrpSpPr/>
        <p:nvPr/>
      </p:nvGrpSpPr>
      <p:grpSpPr>
        <a:xfrm>
          <a:off x="0" y="0"/>
          <a:ext cx="0" cy="0"/>
          <a:chOff x="0" y="0"/>
          <a:chExt cx="0" cy="0"/>
        </a:xfrm>
      </p:grpSpPr>
      <p:pic>
        <p:nvPicPr>
          <p:cNvPr id="2" name="Image 0" descr="/home/claude/slides/assets/algonquin_logo.png"/>
          <p:cNvPicPr>
            <a:picLocks noChangeAspect="1"/>
          </p:cNvPicPr>
          <p:nvPr/>
        </p:nvPicPr>
        <p:blipFill>
          <a:blip r:embed="rId3"/>
          <a:stretch>
            <a:fillRect/>
          </a:stretch>
        </p:blipFill>
        <p:spPr>
          <a:xfrm>
            <a:off x="10454335" y="502920"/>
            <a:ext cx="1188720" cy="883813"/>
          </a:xfrm>
          <a:prstGeom prst="rect">
            <a:avLst/>
          </a:prstGeom>
        </p:spPr>
      </p:pic>
      <p:sp>
        <p:nvSpPr>
          <p:cNvPr id="3" name="Text 0"/>
          <p:cNvSpPr/>
          <p:nvPr/>
        </p:nvSpPr>
        <p:spPr>
          <a:xfrm>
            <a:off x="822960" y="640080"/>
            <a:ext cx="7315200" cy="365760"/>
          </a:xfrm>
          <a:prstGeom prst="rect">
            <a:avLst/>
          </a:prstGeom>
          <a:noFill/>
          <a:ln/>
        </p:spPr>
        <p:txBody>
          <a:bodyPr wrap="square" lIns="0" tIns="0" rIns="0" bIns="0" rtlCol="0" anchor="ctr"/>
          <a:lstStyle/>
          <a:p>
            <a:pPr marL="0" indent="0">
              <a:buNone/>
            </a:pPr>
            <a:r>
              <a:rPr lang="en-US" sz="1300" b="1" kern="0" spc="200" dirty="0">
                <a:solidFill>
                  <a:srgbClr val="FFFFFF"/>
                </a:solidFill>
                <a:latin typeface="Arial" pitchFamily="34" charset="0"/>
                <a:ea typeface="Arial" pitchFamily="34" charset="-122"/>
                <a:cs typeface="Arial" pitchFamily="34" charset="-120"/>
              </a:rPr>
              <a:t>ALGONQUIN COLLEGE</a:t>
            </a:r>
            <a:endParaRPr lang="en-US" sz="1300" dirty="0"/>
          </a:p>
        </p:txBody>
      </p:sp>
      <p:sp>
        <p:nvSpPr>
          <p:cNvPr id="4" name="Text 1"/>
          <p:cNvSpPr/>
          <p:nvPr/>
        </p:nvSpPr>
        <p:spPr>
          <a:xfrm>
            <a:off x="822960" y="960120"/>
            <a:ext cx="7315200" cy="320040"/>
          </a:xfrm>
          <a:prstGeom prst="rect">
            <a:avLst/>
          </a:prstGeom>
          <a:noFill/>
          <a:ln/>
        </p:spPr>
        <p:txBody>
          <a:bodyPr wrap="square" lIns="0" tIns="0" rIns="0" bIns="0" rtlCol="0" anchor="ctr"/>
          <a:lstStyle/>
          <a:p>
            <a:pPr marL="0" indent="0">
              <a:buNone/>
            </a:pPr>
            <a:r>
              <a:rPr lang="en-US" sz="1200" dirty="0">
                <a:solidFill>
                  <a:srgbClr val="9FC2B0"/>
                </a:solidFill>
                <a:latin typeface="Arial" pitchFamily="34" charset="0"/>
                <a:ea typeface="Arial" pitchFamily="34" charset="-122"/>
                <a:cs typeface="Arial" pitchFamily="34" charset="-120"/>
              </a:rPr>
              <a:t>School of Advanced Technology</a:t>
            </a:r>
            <a:endParaRPr lang="en-US" sz="1200" dirty="0"/>
          </a:p>
        </p:txBody>
      </p:sp>
      <p:sp>
        <p:nvSpPr>
          <p:cNvPr id="5" name="Text 2"/>
          <p:cNvSpPr/>
          <p:nvPr/>
        </p:nvSpPr>
        <p:spPr>
          <a:xfrm>
            <a:off x="822960" y="2194560"/>
            <a:ext cx="7315200" cy="320040"/>
          </a:xfrm>
          <a:prstGeom prst="rect">
            <a:avLst/>
          </a:prstGeom>
          <a:noFill/>
          <a:ln/>
        </p:spPr>
        <p:txBody>
          <a:bodyPr wrap="square" lIns="0" tIns="0" rIns="0" bIns="0" rtlCol="0" anchor="ctr"/>
          <a:lstStyle/>
          <a:p>
            <a:pPr marL="0" indent="0">
              <a:buNone/>
            </a:pPr>
            <a:r>
              <a:rPr lang="en-US" sz="1100" b="1" kern="0" spc="150" dirty="0">
                <a:solidFill>
                  <a:srgbClr val="43B02A"/>
                </a:solidFill>
                <a:latin typeface="Arial" pitchFamily="34" charset="0"/>
                <a:ea typeface="Arial" pitchFamily="34" charset="-122"/>
                <a:cs typeface="Arial" pitchFamily="34" charset="-120"/>
              </a:rPr>
              <a:t>LECTURE SESSION</a:t>
            </a:r>
            <a:endParaRPr lang="en-US" sz="1100" dirty="0"/>
          </a:p>
        </p:txBody>
      </p:sp>
      <p:sp>
        <p:nvSpPr>
          <p:cNvPr id="6" name="Shape 3"/>
          <p:cNvSpPr/>
          <p:nvPr/>
        </p:nvSpPr>
        <p:spPr>
          <a:xfrm>
            <a:off x="822960" y="2651760"/>
            <a:ext cx="7315200" cy="0"/>
          </a:xfrm>
          <a:prstGeom prst="line">
            <a:avLst/>
          </a:prstGeom>
          <a:noFill/>
          <a:ln w="25400">
            <a:solidFill>
              <a:srgbClr val="43B02A"/>
            </a:solidFill>
            <a:prstDash val="solid"/>
          </a:ln>
        </p:spPr>
        <p:txBody>
          <a:bodyPr/>
          <a:lstStyle/>
          <a:p>
            <a:endParaRPr lang="en-US"/>
          </a:p>
        </p:txBody>
      </p:sp>
      <p:sp>
        <p:nvSpPr>
          <p:cNvPr id="7" name="Text 4"/>
          <p:cNvSpPr/>
          <p:nvPr/>
        </p:nvSpPr>
        <p:spPr>
          <a:xfrm>
            <a:off x="822960" y="2743200"/>
            <a:ext cx="91440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NET2008: DevOps</a:t>
            </a:r>
            <a:endParaRPr lang="en-US" sz="3200" dirty="0"/>
          </a:p>
        </p:txBody>
      </p:sp>
      <p:sp>
        <p:nvSpPr>
          <p:cNvPr id="8" name="Text 5"/>
          <p:cNvSpPr/>
          <p:nvPr/>
        </p:nvSpPr>
        <p:spPr>
          <a:xfrm>
            <a:off x="822960" y="3337560"/>
            <a:ext cx="9601200" cy="502920"/>
          </a:xfrm>
          <a:prstGeom prst="rect">
            <a:avLst/>
          </a:prstGeom>
          <a:noFill/>
          <a:ln/>
        </p:spPr>
        <p:txBody>
          <a:bodyPr wrap="square" lIns="0" tIns="0" rIns="0" bIns="0" rtlCol="0" anchor="ctr"/>
          <a:lstStyle/>
          <a:p>
            <a:pPr marL="0" indent="0">
              <a:buNone/>
            </a:pPr>
            <a:r>
              <a:rPr lang="en-US" sz="1800" dirty="0">
                <a:solidFill>
                  <a:srgbClr val="D7E8DE"/>
                </a:solidFill>
                <a:latin typeface="Arial" pitchFamily="34" charset="0"/>
                <a:ea typeface="Arial" pitchFamily="34" charset="-122"/>
                <a:cs typeface="Arial" pitchFamily="34" charset="-120"/>
              </a:rPr>
              <a:t>Week 2: Course Introduction</a:t>
            </a:r>
            <a:endParaRPr lang="en-US" sz="1800" dirty="0"/>
          </a:p>
        </p:txBody>
      </p:sp>
      <p:sp>
        <p:nvSpPr>
          <p:cNvPr id="10" name="Text 7"/>
          <p:cNvSpPr/>
          <p:nvPr/>
        </p:nvSpPr>
        <p:spPr>
          <a:xfrm>
            <a:off x="822960" y="6035040"/>
            <a:ext cx="10058400" cy="365760"/>
          </a:xfrm>
          <a:prstGeom prst="rect">
            <a:avLst/>
          </a:prstGeom>
          <a:noFill/>
          <a:ln/>
        </p:spPr>
        <p:txBody>
          <a:bodyPr wrap="square" lIns="0" tIns="0" rIns="0" bIns="0" rtlCol="0" anchor="ctr"/>
          <a:lstStyle/>
          <a:p>
            <a:pPr marL="0" indent="0">
              <a:buNone/>
            </a:pPr>
            <a:r>
              <a:rPr lang="en-US" sz="1200" dirty="0">
                <a:solidFill>
                  <a:srgbClr val="9FC2B0"/>
                </a:solidFill>
                <a:latin typeface="Arial" pitchFamily="34" charset="0"/>
                <a:ea typeface="Arial" pitchFamily="34" charset="-122"/>
                <a:cs typeface="Arial" pitchFamily="34" charset="-120"/>
              </a:rPr>
              <a:t>Bachelor of Information Technology: Network Technology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03328"/>
        </a:solidFill>
        <a:effectLst/>
      </p:bgPr>
    </p:bg>
    <p:spTree>
      <p:nvGrpSpPr>
        <p:cNvPr id="1" name=""/>
        <p:cNvGrpSpPr/>
        <p:nvPr/>
      </p:nvGrpSpPr>
      <p:grpSpPr>
        <a:xfrm>
          <a:off x="0" y="0"/>
          <a:ext cx="0" cy="0"/>
          <a:chOff x="0" y="0"/>
          <a:chExt cx="0" cy="0"/>
        </a:xfrm>
      </p:grpSpPr>
      <p:sp>
        <p:nvSpPr>
          <p:cNvPr id="2" name="Text 0"/>
          <p:cNvSpPr/>
          <p:nvPr/>
        </p:nvSpPr>
        <p:spPr>
          <a:xfrm>
            <a:off x="822960" y="2606040"/>
            <a:ext cx="10058400" cy="457200"/>
          </a:xfrm>
          <a:prstGeom prst="rect">
            <a:avLst/>
          </a:prstGeom>
          <a:noFill/>
          <a:ln/>
        </p:spPr>
        <p:txBody>
          <a:bodyPr wrap="square" lIns="0" tIns="0" rIns="0" bIns="0" rtlCol="0" anchor="ctr"/>
          <a:lstStyle/>
          <a:p>
            <a:pPr marL="0" indent="0">
              <a:buNone/>
            </a:pPr>
            <a:r>
              <a:rPr lang="en-US" sz="1400" b="1" kern="0" spc="200" dirty="0">
                <a:solidFill>
                  <a:srgbClr val="43B02A"/>
                </a:solidFill>
                <a:latin typeface="Arial" pitchFamily="34" charset="0"/>
                <a:ea typeface="Arial" pitchFamily="34" charset="-122"/>
                <a:cs typeface="Arial" pitchFamily="34" charset="-120"/>
              </a:rPr>
              <a:t>SECTION 1</a:t>
            </a:r>
            <a:endParaRPr lang="en-US" sz="1400" dirty="0"/>
          </a:p>
        </p:txBody>
      </p:sp>
      <p:sp>
        <p:nvSpPr>
          <p:cNvPr id="3" name="Text 1"/>
          <p:cNvSpPr/>
          <p:nvPr/>
        </p:nvSpPr>
        <p:spPr>
          <a:xfrm>
            <a:off x="822960" y="3063240"/>
            <a:ext cx="10515600" cy="1903396"/>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What is DevOps?</a:t>
            </a:r>
          </a:p>
          <a:p>
            <a:pPr marL="0" indent="0">
              <a:buNone/>
            </a:pPr>
            <a:r>
              <a:rPr lang="en-US" sz="3400" b="1" dirty="0">
                <a:solidFill>
                  <a:srgbClr val="FFFFFF"/>
                </a:solidFill>
                <a:latin typeface="Cambria" pitchFamily="34" charset="0"/>
                <a:ea typeface="Cambria" pitchFamily="34" charset="-122"/>
              </a:rPr>
              <a:t>What does a DevOps Engineer do?</a:t>
            </a:r>
          </a:p>
        </p:txBody>
      </p:sp>
      <p:sp>
        <p:nvSpPr>
          <p:cNvPr id="4" name="Shape 2"/>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5"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6" name="Text 3"/>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7" name="Text 4"/>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3"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4" name="Text 1"/>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5" name="Text 2"/>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4</a:t>
            </a:r>
            <a:endParaRPr lang="en-US" sz="1000" dirty="0"/>
          </a:p>
        </p:txBody>
      </p:sp>
      <p:sp>
        <p:nvSpPr>
          <p:cNvPr id="6" name="Text 3"/>
          <p:cNvSpPr/>
          <p:nvPr/>
        </p:nvSpPr>
        <p:spPr>
          <a:xfrm>
            <a:off x="640080" y="411480"/>
            <a:ext cx="10881360" cy="320040"/>
          </a:xfrm>
          <a:prstGeom prst="rect">
            <a:avLst/>
          </a:prstGeom>
          <a:noFill/>
          <a:ln/>
        </p:spPr>
        <p:txBody>
          <a:bodyPr wrap="square" lIns="0" tIns="0" rIns="0" bIns="0" rtlCol="0" anchor="ctr"/>
          <a:lstStyle/>
          <a:p>
            <a:pPr marL="0" indent="0">
              <a:buNone/>
            </a:pPr>
            <a:r>
              <a:rPr lang="en-US" sz="1100" b="1" kern="0" spc="150" dirty="0">
                <a:solidFill>
                  <a:srgbClr val="006341"/>
                </a:solidFill>
                <a:latin typeface="Arial" pitchFamily="34" charset="0"/>
                <a:ea typeface="Arial" pitchFamily="34" charset="-122"/>
                <a:cs typeface="Arial" pitchFamily="34" charset="-120"/>
              </a:rPr>
              <a:t>SECTION 1</a:t>
            </a:r>
            <a:endParaRPr lang="en-US" sz="1100" dirty="0"/>
          </a:p>
        </p:txBody>
      </p:sp>
      <p:sp>
        <p:nvSpPr>
          <p:cNvPr id="7" name="Text 4"/>
          <p:cNvSpPr/>
          <p:nvPr/>
        </p:nvSpPr>
        <p:spPr>
          <a:xfrm>
            <a:off x="640080" y="731520"/>
            <a:ext cx="10881360" cy="914400"/>
          </a:xfrm>
          <a:prstGeom prst="rect">
            <a:avLst/>
          </a:prstGeom>
          <a:noFill/>
          <a:ln/>
        </p:spPr>
        <p:txBody>
          <a:bodyPr wrap="square" lIns="0" tIns="0" rIns="0" bIns="0" rtlCol="0" anchor="t"/>
          <a:lstStyle/>
          <a:p>
            <a:pPr>
              <a:lnSpc>
                <a:spcPct val="105000"/>
              </a:lnSpc>
            </a:pPr>
            <a:r>
              <a:rPr lang="en-US" sz="2700" b="1" dirty="0">
                <a:solidFill>
                  <a:srgbClr val="1A1A1A"/>
                </a:solidFill>
                <a:latin typeface="Cambria" pitchFamily="34" charset="0"/>
                <a:ea typeface="Cambria" pitchFamily="34" charset="-122"/>
              </a:rPr>
              <a:t>Why did DevOps emerge?</a:t>
            </a:r>
          </a:p>
          <a:p>
            <a:pPr marL="0" indent="0">
              <a:lnSpc>
                <a:spcPct val="105000"/>
              </a:lnSpc>
              <a:buNone/>
            </a:pPr>
            <a:endParaRPr lang="en-US" sz="2700" dirty="0"/>
          </a:p>
        </p:txBody>
      </p:sp>
      <p:sp>
        <p:nvSpPr>
          <p:cNvPr id="8" name="Text 5"/>
          <p:cNvSpPr/>
          <p:nvPr/>
        </p:nvSpPr>
        <p:spPr>
          <a:xfrm>
            <a:off x="640080" y="1501541"/>
            <a:ext cx="6386362" cy="731520"/>
          </a:xfrm>
          <a:prstGeom prst="rect">
            <a:avLst/>
          </a:prstGeom>
          <a:noFill/>
          <a:ln/>
        </p:spPr>
        <p:txBody>
          <a:bodyPr wrap="square" lIns="0" tIns="0" rIns="0" bIns="0" rtlCol="0" anchor="t"/>
          <a:lstStyle/>
          <a:p>
            <a:r>
              <a:rPr lang="en-CA" dirty="0">
                <a:latin typeface="Arial" panose="020B0604020202020204" pitchFamily="34" charset="0"/>
                <a:cs typeface="Arial" panose="020B0604020202020204" pitchFamily="34" charset="0"/>
              </a:rPr>
              <a:t>Imagine This…</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Developer finishes a feature: “It works on my laptop!”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Operations says: “It doesn't work in production.”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Release takes weeks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Everyone blames everyone </a:t>
            </a:r>
          </a:p>
          <a:p>
            <a:pPr marL="285750" lvl="0" indent="-285750">
              <a:buFont typeface="Arial" panose="020B0604020202020204" pitchFamily="34" charset="0"/>
              <a:buChar char="•"/>
            </a:pPr>
            <a:endParaRPr lang="en-CA" dirty="0">
              <a:latin typeface="Arial" panose="020B0604020202020204" pitchFamily="34" charset="0"/>
              <a:cs typeface="Arial" panose="020B0604020202020204" pitchFamily="34" charset="0"/>
            </a:endParaRPr>
          </a:p>
          <a:p>
            <a:pPr lvl="0"/>
            <a:r>
              <a:rPr lang="en-CA" dirty="0">
                <a:latin typeface="Arial" panose="020B0604020202020204" pitchFamily="34" charset="0"/>
                <a:cs typeface="Arial" panose="020B0604020202020204" pitchFamily="34" charset="0"/>
              </a:rPr>
              <a:t>It was what it looked like before DevOps:</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Development and Operations as separate silos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Developers → write code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QA → test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Operations → deploy/run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Security → review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Lots of handoffs </a:t>
            </a:r>
          </a:p>
          <a:p>
            <a:pPr marL="285750" lvl="0" indent="-285750">
              <a:buFont typeface="Arial" panose="020B0604020202020204" pitchFamily="34" charset="0"/>
              <a:buChar char="•"/>
            </a:pPr>
            <a:r>
              <a:rPr lang="en-CA" dirty="0">
                <a:latin typeface="Arial" panose="020B0604020202020204" pitchFamily="34" charset="0"/>
                <a:cs typeface="Arial" panose="020B0604020202020204" pitchFamily="34" charset="0"/>
              </a:rPr>
              <a:t>Slow feedback</a:t>
            </a:r>
          </a:p>
          <a:p>
            <a:pPr marL="285750" lvl="0" indent="-285750">
              <a:buFont typeface="Arial" panose="020B0604020202020204" pitchFamily="34" charset="0"/>
              <a:buChar char="•"/>
            </a:pPr>
            <a:endParaRPr lang="en-CA" dirty="0">
              <a:latin typeface="Arial" panose="020B0604020202020204" pitchFamily="34" charset="0"/>
              <a:cs typeface="Arial" panose="020B0604020202020204" pitchFamily="34" charset="0"/>
            </a:endParaRPr>
          </a:p>
          <a:p>
            <a:r>
              <a:rPr lang="en-CA" dirty="0">
                <a:latin typeface="Arial" panose="020B0604020202020204" pitchFamily="34" charset="0"/>
                <a:cs typeface="Arial" panose="020B0604020202020204" pitchFamily="34" charset="0"/>
              </a:rPr>
              <a:t>What’s the core idea of DevOps?</a:t>
            </a:r>
          </a:p>
          <a:p>
            <a:pPr marL="285750" lvl="0" indent="-285750">
              <a:buFont typeface="Arial" panose="020B0604020202020204" pitchFamily="34" charset="0"/>
              <a:buChar char="•"/>
            </a:pPr>
            <a:endParaRPr lang="en-CA" dirty="0">
              <a:latin typeface="Arial" panose="020B0604020202020204" pitchFamily="34" charset="0"/>
              <a:cs typeface="Arial" panose="020B0604020202020204" pitchFamily="34" charset="0"/>
            </a:endParaRPr>
          </a:p>
          <a:p>
            <a:pPr lvl="0"/>
            <a:endParaRPr lang="en-CA" dirty="0">
              <a:latin typeface="Arial" panose="020B0604020202020204" pitchFamily="34" charset="0"/>
              <a:cs typeface="Arial" panose="020B0604020202020204" pitchFamily="34" charset="0"/>
            </a:endParaRPr>
          </a:p>
          <a:p>
            <a:pPr lvl="0"/>
            <a:endParaRPr lang="en-CA" dirty="0">
              <a:latin typeface="Arial" panose="020B0604020202020204" pitchFamily="34" charset="0"/>
              <a:cs typeface="Arial" panose="020B0604020202020204" pitchFamily="34" charset="0"/>
            </a:endParaRPr>
          </a:p>
        </p:txBody>
      </p:sp>
      <p:pic>
        <p:nvPicPr>
          <p:cNvPr id="10" name="Picture 9" descr="Life of a DevOps engineer : r/ProgrammerHumor">
            <a:extLst>
              <a:ext uri="{FF2B5EF4-FFF2-40B4-BE49-F238E27FC236}">
                <a16:creationId xmlns:a16="http://schemas.microsoft.com/office/drawing/2014/main" id="{F33F55F8-62C4-38D3-51AC-2F47D13C9336}"/>
              </a:ext>
            </a:extLst>
          </p:cNvPr>
          <p:cNvPicPr>
            <a:picLocks noChangeAspect="1"/>
          </p:cNvPicPr>
          <p:nvPr/>
        </p:nvPicPr>
        <p:blipFill>
          <a:blip r:embed="rId4"/>
          <a:stretch>
            <a:fillRect/>
          </a:stretch>
        </p:blipFill>
        <p:spPr>
          <a:xfrm>
            <a:off x="7595366" y="952900"/>
            <a:ext cx="3773369" cy="51471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5EB3-1229-89A7-81BE-F928FDB263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415368A-EEA6-7826-81AD-E93311260DFD}"/>
              </a:ext>
            </a:extLst>
          </p:cNvPr>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3" name="Image 0" descr="/home/claude/slides/assets/algonquin_logo.png">
            <a:extLst>
              <a:ext uri="{FF2B5EF4-FFF2-40B4-BE49-F238E27FC236}">
                <a16:creationId xmlns:a16="http://schemas.microsoft.com/office/drawing/2014/main" id="{20F9843D-007D-50F4-D5D2-2C5611CA0D1E}"/>
              </a:ext>
            </a:extLst>
          </p:cNvPr>
          <p:cNvPicPr>
            <a:picLocks noChangeAspect="1"/>
          </p:cNvPicPr>
          <p:nvPr/>
        </p:nvPicPr>
        <p:blipFill>
          <a:blip r:embed="rId3"/>
          <a:stretch>
            <a:fillRect/>
          </a:stretch>
        </p:blipFill>
        <p:spPr>
          <a:xfrm>
            <a:off x="548640" y="6473952"/>
            <a:ext cx="274320" cy="203957"/>
          </a:xfrm>
          <a:prstGeom prst="rect">
            <a:avLst/>
          </a:prstGeom>
        </p:spPr>
      </p:pic>
      <p:sp>
        <p:nvSpPr>
          <p:cNvPr id="4" name="Text 1">
            <a:extLst>
              <a:ext uri="{FF2B5EF4-FFF2-40B4-BE49-F238E27FC236}">
                <a16:creationId xmlns:a16="http://schemas.microsoft.com/office/drawing/2014/main" id="{141AE51A-6FEB-29C5-90B9-5A58FF97E2A8}"/>
              </a:ext>
            </a:extLst>
          </p:cNvPr>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5" name="Text 2">
            <a:extLst>
              <a:ext uri="{FF2B5EF4-FFF2-40B4-BE49-F238E27FC236}">
                <a16:creationId xmlns:a16="http://schemas.microsoft.com/office/drawing/2014/main" id="{9E7DA092-69EB-D0BC-B3A4-C4E0BBE7C06F}"/>
              </a:ext>
            </a:extLst>
          </p:cNvPr>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4</a:t>
            </a:r>
            <a:endParaRPr lang="en-US" sz="1000" dirty="0"/>
          </a:p>
        </p:txBody>
      </p:sp>
      <p:sp>
        <p:nvSpPr>
          <p:cNvPr id="6" name="Text 3">
            <a:extLst>
              <a:ext uri="{FF2B5EF4-FFF2-40B4-BE49-F238E27FC236}">
                <a16:creationId xmlns:a16="http://schemas.microsoft.com/office/drawing/2014/main" id="{22058980-3FF8-A6D2-7A6A-6C43ED32AE3C}"/>
              </a:ext>
            </a:extLst>
          </p:cNvPr>
          <p:cNvSpPr/>
          <p:nvPr/>
        </p:nvSpPr>
        <p:spPr>
          <a:xfrm>
            <a:off x="640080" y="411480"/>
            <a:ext cx="10881360" cy="320040"/>
          </a:xfrm>
          <a:prstGeom prst="rect">
            <a:avLst/>
          </a:prstGeom>
          <a:noFill/>
          <a:ln/>
        </p:spPr>
        <p:txBody>
          <a:bodyPr wrap="square" lIns="0" tIns="0" rIns="0" bIns="0" rtlCol="0" anchor="ctr"/>
          <a:lstStyle/>
          <a:p>
            <a:pPr marL="0" indent="0">
              <a:buNone/>
            </a:pPr>
            <a:r>
              <a:rPr lang="en-US" sz="1100" b="1" kern="0" spc="150" dirty="0">
                <a:solidFill>
                  <a:srgbClr val="006341"/>
                </a:solidFill>
                <a:latin typeface="Arial" pitchFamily="34" charset="0"/>
                <a:ea typeface="Arial" pitchFamily="34" charset="-122"/>
                <a:cs typeface="Arial" pitchFamily="34" charset="-120"/>
              </a:rPr>
              <a:t>SECTION 1</a:t>
            </a:r>
            <a:endParaRPr lang="en-US" sz="1100" dirty="0"/>
          </a:p>
        </p:txBody>
      </p:sp>
      <p:sp>
        <p:nvSpPr>
          <p:cNvPr id="7" name="Text 4">
            <a:extLst>
              <a:ext uri="{FF2B5EF4-FFF2-40B4-BE49-F238E27FC236}">
                <a16:creationId xmlns:a16="http://schemas.microsoft.com/office/drawing/2014/main" id="{BE1B5B70-058B-6544-B710-5E9F022CEE75}"/>
              </a:ext>
            </a:extLst>
          </p:cNvPr>
          <p:cNvSpPr/>
          <p:nvPr/>
        </p:nvSpPr>
        <p:spPr>
          <a:xfrm>
            <a:off x="640080" y="731520"/>
            <a:ext cx="10881360" cy="914400"/>
          </a:xfrm>
          <a:prstGeom prst="rect">
            <a:avLst/>
          </a:prstGeom>
          <a:noFill/>
          <a:ln/>
        </p:spPr>
        <p:txBody>
          <a:bodyPr wrap="square" lIns="0" tIns="0" rIns="0" bIns="0" rtlCol="0" anchor="t"/>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DevOps unifies software development and IT operations into one continuous practice.</a:t>
            </a:r>
            <a:endParaRPr lang="en-US" sz="2700" dirty="0"/>
          </a:p>
        </p:txBody>
      </p:sp>
      <p:sp>
        <p:nvSpPr>
          <p:cNvPr id="8" name="Text 5">
            <a:extLst>
              <a:ext uri="{FF2B5EF4-FFF2-40B4-BE49-F238E27FC236}">
                <a16:creationId xmlns:a16="http://schemas.microsoft.com/office/drawing/2014/main" id="{44BB3A53-E530-431A-7782-956D54A64A8B}"/>
              </a:ext>
            </a:extLst>
          </p:cNvPr>
          <p:cNvSpPr/>
          <p:nvPr/>
        </p:nvSpPr>
        <p:spPr>
          <a:xfrm>
            <a:off x="640080" y="2011680"/>
            <a:ext cx="10881360" cy="731520"/>
          </a:xfrm>
          <a:prstGeom prst="rect">
            <a:avLst/>
          </a:prstGeom>
          <a:noFill/>
          <a:ln/>
        </p:spPr>
        <p:txBody>
          <a:bodyPr wrap="square" lIns="0" tIns="0" rIns="0" bIns="0" rtlCol="0" anchor="t"/>
          <a:lstStyle/>
          <a:p>
            <a:pPr>
              <a:lnSpc>
                <a:spcPct val="135000"/>
              </a:lnSpc>
            </a:pPr>
            <a:r>
              <a:rPr lang="en-US" sz="1800" dirty="0">
                <a:solidFill>
                  <a:srgbClr val="1A1A1A"/>
                </a:solidFill>
                <a:latin typeface="Arial" pitchFamily="34" charset="0"/>
                <a:ea typeface="Arial" pitchFamily="34" charset="-122"/>
                <a:cs typeface="Arial" pitchFamily="34" charset="-120"/>
              </a:rPr>
              <a:t>DevOps merges </a:t>
            </a:r>
            <a:r>
              <a:rPr lang="en-US" dirty="0">
                <a:solidFill>
                  <a:srgbClr val="1A1A1A"/>
                </a:solidFill>
                <a:latin typeface="Arial" pitchFamily="34" charset="0"/>
                <a:ea typeface="Arial" pitchFamily="34" charset="-122"/>
                <a:cs typeface="Arial" pitchFamily="34" charset="-120"/>
              </a:rPr>
              <a:t>development and operations teams </a:t>
            </a:r>
            <a:r>
              <a:rPr lang="en-US" sz="1800" dirty="0">
                <a:solidFill>
                  <a:srgbClr val="1A1A1A"/>
                </a:solidFill>
                <a:latin typeface="Arial" pitchFamily="34" charset="0"/>
                <a:ea typeface="Arial" pitchFamily="34" charset="-122"/>
                <a:cs typeface="Arial" pitchFamily="34" charset="-120"/>
              </a:rPr>
              <a:t>into one continuous infinity loop, shown below.</a:t>
            </a:r>
            <a:endParaRPr lang="en-US" sz="1800" dirty="0"/>
          </a:p>
        </p:txBody>
      </p:sp>
      <p:pic>
        <p:nvPicPr>
          <p:cNvPr id="9" name="Image 1" descr="/home/claude/slides/assets/devops_loop.png">
            <a:extLst>
              <a:ext uri="{FF2B5EF4-FFF2-40B4-BE49-F238E27FC236}">
                <a16:creationId xmlns:a16="http://schemas.microsoft.com/office/drawing/2014/main" id="{5DAA1BF1-5597-FE19-081C-D3E207E925B2}"/>
              </a:ext>
            </a:extLst>
          </p:cNvPr>
          <p:cNvPicPr>
            <a:picLocks noChangeAspect="1"/>
          </p:cNvPicPr>
          <p:nvPr/>
        </p:nvPicPr>
        <p:blipFill>
          <a:blip r:embed="rId4"/>
          <a:stretch>
            <a:fillRect/>
          </a:stretch>
        </p:blipFill>
        <p:spPr>
          <a:xfrm>
            <a:off x="2895448" y="2788920"/>
            <a:ext cx="6400800" cy="2987040"/>
          </a:xfrm>
          <a:prstGeom prst="rect">
            <a:avLst/>
          </a:prstGeom>
        </p:spPr>
      </p:pic>
    </p:spTree>
    <p:extLst>
      <p:ext uri="{BB962C8B-B14F-4D97-AF65-F5344CB8AC3E}">
        <p14:creationId xmlns:p14="http://schemas.microsoft.com/office/powerpoint/2010/main" val="3719146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3"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4" name="Text 1"/>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5" name="Text 2"/>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6</a:t>
            </a:r>
            <a:endParaRPr lang="en-US" sz="1000" dirty="0"/>
          </a:p>
        </p:txBody>
      </p:sp>
      <p:sp>
        <p:nvSpPr>
          <p:cNvPr id="6" name="Text 3"/>
          <p:cNvSpPr/>
          <p:nvPr/>
        </p:nvSpPr>
        <p:spPr>
          <a:xfrm>
            <a:off x="640080" y="411480"/>
            <a:ext cx="10881360" cy="320040"/>
          </a:xfrm>
          <a:prstGeom prst="rect">
            <a:avLst/>
          </a:prstGeom>
          <a:noFill/>
          <a:ln/>
        </p:spPr>
        <p:txBody>
          <a:bodyPr wrap="square" lIns="0" tIns="0" rIns="0" bIns="0" rtlCol="0" anchor="ctr"/>
          <a:lstStyle/>
          <a:p>
            <a:pPr marL="0" indent="0">
              <a:buNone/>
            </a:pPr>
            <a:r>
              <a:rPr lang="en-US" sz="1100" b="1" kern="0" spc="150" dirty="0">
                <a:solidFill>
                  <a:srgbClr val="006341"/>
                </a:solidFill>
                <a:latin typeface="Arial" pitchFamily="34" charset="0"/>
                <a:ea typeface="Arial" pitchFamily="34" charset="-122"/>
                <a:cs typeface="Arial" pitchFamily="34" charset="-120"/>
              </a:rPr>
              <a:t>SECTION 1</a:t>
            </a:r>
            <a:endParaRPr lang="en-US" sz="1100" dirty="0"/>
          </a:p>
        </p:txBody>
      </p:sp>
      <p:sp>
        <p:nvSpPr>
          <p:cNvPr id="7" name="Text 4"/>
          <p:cNvSpPr/>
          <p:nvPr/>
        </p:nvSpPr>
        <p:spPr>
          <a:xfrm>
            <a:off x="640080" y="731520"/>
            <a:ext cx="10881360" cy="914400"/>
          </a:xfrm>
          <a:prstGeom prst="rect">
            <a:avLst/>
          </a:prstGeom>
          <a:noFill/>
          <a:ln/>
        </p:spPr>
        <p:txBody>
          <a:bodyPr wrap="square" lIns="0" tIns="0" rIns="0" bIns="0" rtlCol="0" anchor="t"/>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DevOps is one of the highest-demand, highest-paid roles in IT!</a:t>
            </a:r>
            <a:endParaRPr lang="en-US" sz="2700" dirty="0"/>
          </a:p>
        </p:txBody>
      </p:sp>
      <p:sp>
        <p:nvSpPr>
          <p:cNvPr id="8" name="Text 5"/>
          <p:cNvSpPr/>
          <p:nvPr/>
        </p:nvSpPr>
        <p:spPr>
          <a:xfrm>
            <a:off x="640080" y="2103120"/>
            <a:ext cx="3840480" cy="640080"/>
          </a:xfrm>
          <a:prstGeom prst="rect">
            <a:avLst/>
          </a:prstGeom>
          <a:noFill/>
          <a:ln/>
        </p:spPr>
        <p:txBody>
          <a:bodyPr wrap="square" lIns="0" tIns="0" rIns="0" bIns="0" rtlCol="0" anchor="ctr"/>
          <a:lstStyle/>
          <a:p>
            <a:pPr marL="0" indent="0">
              <a:buNone/>
            </a:pPr>
            <a:r>
              <a:rPr lang="en-US" sz="1600" b="1" dirty="0">
                <a:solidFill>
                  <a:srgbClr val="006341"/>
                </a:solidFill>
                <a:latin typeface="Cambria" pitchFamily="34" charset="0"/>
                <a:ea typeface="Cambria" pitchFamily="34" charset="-122"/>
                <a:cs typeface="Cambria" pitchFamily="34" charset="-120"/>
              </a:rPr>
              <a:t>Canada (average)</a:t>
            </a:r>
            <a:endParaRPr lang="en-US" sz="1600" dirty="0"/>
          </a:p>
        </p:txBody>
      </p:sp>
      <p:sp>
        <p:nvSpPr>
          <p:cNvPr id="9" name="Text 6"/>
          <p:cNvSpPr/>
          <p:nvPr/>
        </p:nvSpPr>
        <p:spPr>
          <a:xfrm>
            <a:off x="4572000" y="2103120"/>
            <a:ext cx="6949440" cy="640080"/>
          </a:xfrm>
          <a:prstGeom prst="rect">
            <a:avLst/>
          </a:prstGeom>
          <a:noFill/>
          <a:ln/>
        </p:spPr>
        <p:txBody>
          <a:bodyPr wrap="square" lIns="0" tIns="0" rIns="0" bIns="0" rtlCol="0" anchor="ctr"/>
          <a:lstStyle/>
          <a:p>
            <a:pPr marL="0" indent="0">
              <a:buNone/>
            </a:pPr>
            <a:r>
              <a:rPr lang="en-US" sz="1550" dirty="0">
                <a:solidFill>
                  <a:srgbClr val="1A1A1A"/>
                </a:solidFill>
                <a:latin typeface="Arial" pitchFamily="34" charset="0"/>
                <a:ea typeface="Arial" pitchFamily="34" charset="-122"/>
                <a:cs typeface="Arial" pitchFamily="34" charset="-120"/>
              </a:rPr>
              <a:t>$120,668/yr  ·  entry $92,500  ·  experienced $147,767</a:t>
            </a:r>
            <a:endParaRPr lang="en-US" sz="1550" dirty="0"/>
          </a:p>
        </p:txBody>
      </p:sp>
      <p:sp>
        <p:nvSpPr>
          <p:cNvPr id="10" name="Text 7"/>
          <p:cNvSpPr/>
          <p:nvPr/>
        </p:nvSpPr>
        <p:spPr>
          <a:xfrm>
            <a:off x="640080" y="2880360"/>
            <a:ext cx="3840480" cy="640080"/>
          </a:xfrm>
          <a:prstGeom prst="rect">
            <a:avLst/>
          </a:prstGeom>
          <a:noFill/>
          <a:ln/>
        </p:spPr>
        <p:txBody>
          <a:bodyPr wrap="square" lIns="0" tIns="0" rIns="0" bIns="0" rtlCol="0" anchor="ctr"/>
          <a:lstStyle/>
          <a:p>
            <a:pPr marL="0" indent="0">
              <a:buNone/>
            </a:pPr>
            <a:r>
              <a:rPr lang="en-US" sz="1600" b="1" dirty="0">
                <a:solidFill>
                  <a:srgbClr val="006341"/>
                </a:solidFill>
                <a:latin typeface="Cambria" pitchFamily="34" charset="0"/>
                <a:ea typeface="Cambria" pitchFamily="34" charset="-122"/>
                <a:cs typeface="Cambria" pitchFamily="34" charset="-120"/>
              </a:rPr>
              <a:t>United States (average)</a:t>
            </a:r>
            <a:endParaRPr lang="en-US" sz="1600" dirty="0"/>
          </a:p>
        </p:txBody>
      </p:sp>
      <p:sp>
        <p:nvSpPr>
          <p:cNvPr id="11" name="Text 8"/>
          <p:cNvSpPr/>
          <p:nvPr/>
        </p:nvSpPr>
        <p:spPr>
          <a:xfrm>
            <a:off x="4572000" y="2880360"/>
            <a:ext cx="6949440" cy="640080"/>
          </a:xfrm>
          <a:prstGeom prst="rect">
            <a:avLst/>
          </a:prstGeom>
          <a:noFill/>
          <a:ln/>
        </p:spPr>
        <p:txBody>
          <a:bodyPr wrap="square" lIns="0" tIns="0" rIns="0" bIns="0" rtlCol="0" anchor="ctr"/>
          <a:lstStyle/>
          <a:p>
            <a:pPr marL="0" indent="0">
              <a:buNone/>
            </a:pPr>
            <a:r>
              <a:rPr lang="en-US" sz="1550" dirty="0">
                <a:solidFill>
                  <a:srgbClr val="1A1A1A"/>
                </a:solidFill>
                <a:latin typeface="Arial" pitchFamily="34" charset="0"/>
                <a:ea typeface="Arial" pitchFamily="34" charset="-122"/>
                <a:cs typeface="Arial" pitchFamily="34" charset="-120"/>
              </a:rPr>
              <a:t>$144,000/yr  ·  entry $118,271  ·  senior $174,000-$179,000</a:t>
            </a:r>
            <a:endParaRPr lang="en-US" sz="1550" dirty="0"/>
          </a:p>
        </p:txBody>
      </p:sp>
      <p:sp>
        <p:nvSpPr>
          <p:cNvPr id="14" name="Shape 11"/>
          <p:cNvSpPr/>
          <p:nvPr/>
        </p:nvSpPr>
        <p:spPr>
          <a:xfrm>
            <a:off x="640080" y="4754880"/>
            <a:ext cx="10881360" cy="1280160"/>
          </a:xfrm>
          <a:prstGeom prst="rect">
            <a:avLst/>
          </a:prstGeom>
          <a:solidFill>
            <a:srgbClr val="FBEFEF"/>
          </a:solidFill>
          <a:ln/>
        </p:spPr>
        <p:txBody>
          <a:bodyPr/>
          <a:lstStyle/>
          <a:p>
            <a:endParaRPr lang="en-US"/>
          </a:p>
        </p:txBody>
      </p:sp>
      <p:sp>
        <p:nvSpPr>
          <p:cNvPr id="15" name="Text 12"/>
          <p:cNvSpPr/>
          <p:nvPr/>
        </p:nvSpPr>
        <p:spPr>
          <a:xfrm>
            <a:off x="914400" y="4892040"/>
            <a:ext cx="10332720" cy="274320"/>
          </a:xfrm>
          <a:prstGeom prst="rect">
            <a:avLst/>
          </a:prstGeom>
          <a:noFill/>
          <a:ln/>
        </p:spPr>
        <p:txBody>
          <a:bodyPr wrap="square" lIns="0" tIns="0" rIns="0" bIns="0" rtlCol="0" anchor="ctr"/>
          <a:lstStyle/>
          <a:p>
            <a:pPr marL="0" indent="0">
              <a:buNone/>
            </a:pPr>
            <a:r>
              <a:rPr lang="en-US" sz="1100" b="1" kern="0" spc="100" dirty="0">
                <a:solidFill>
                  <a:srgbClr val="8A1F1F"/>
                </a:solidFill>
                <a:latin typeface="Arial" pitchFamily="34" charset="0"/>
                <a:ea typeface="Arial" pitchFamily="34" charset="-122"/>
                <a:cs typeface="Arial" pitchFamily="34" charset="-120"/>
              </a:rPr>
              <a:t>WHY IT PAYS THIS WELL</a:t>
            </a:r>
            <a:endParaRPr lang="en-US" sz="1100" dirty="0"/>
          </a:p>
        </p:txBody>
      </p:sp>
      <p:sp>
        <p:nvSpPr>
          <p:cNvPr id="16" name="Text 13"/>
          <p:cNvSpPr/>
          <p:nvPr/>
        </p:nvSpPr>
        <p:spPr>
          <a:xfrm>
            <a:off x="914400" y="5212080"/>
            <a:ext cx="10332720" cy="731520"/>
          </a:xfrm>
          <a:prstGeom prst="rect">
            <a:avLst/>
          </a:prstGeom>
          <a:noFill/>
          <a:ln/>
        </p:spPr>
        <p:txBody>
          <a:bodyPr wrap="square" lIns="0" tIns="0" rIns="0" bIns="0" rtlCol="0" anchor="t"/>
          <a:lstStyle/>
          <a:p>
            <a:pPr marL="0" indent="0">
              <a:lnSpc>
                <a:spcPct val="130000"/>
              </a:lnSpc>
              <a:buNone/>
            </a:pPr>
            <a:r>
              <a:rPr lang="en-US" sz="1500" dirty="0">
                <a:solidFill>
                  <a:srgbClr val="1A1A1A"/>
                </a:solidFill>
                <a:latin typeface="Arial" pitchFamily="34" charset="0"/>
                <a:ea typeface="Arial" pitchFamily="34" charset="-122"/>
                <a:cs typeface="Arial" pitchFamily="34" charset="-120"/>
              </a:rPr>
              <a:t>The U.S. Bureau of Labor Statistics projects DevOps-related roles to grow 15% between 2024 and 2034, far faster than the average occupation. Demand outpaces the supply of people who can write code, run infrastructure, and keep both reliable at once.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881360" cy="320040"/>
          </a:xfrm>
          <a:prstGeom prst="rect">
            <a:avLst/>
          </a:prstGeom>
          <a:noFill/>
          <a:ln/>
        </p:spPr>
        <p:txBody>
          <a:bodyPr wrap="square" lIns="0" tIns="0" rIns="0" bIns="0" rtlCol="0" anchor="ctr"/>
          <a:lstStyle/>
          <a:p>
            <a:r>
              <a:rPr lang="en-US" sz="1100" b="1" kern="0" spc="150" dirty="0">
                <a:solidFill>
                  <a:srgbClr val="006341"/>
                </a:solidFill>
                <a:latin typeface="Arial" pitchFamily="34" charset="0"/>
                <a:ea typeface="Arial" pitchFamily="34" charset="-122"/>
                <a:cs typeface="Arial" pitchFamily="34" charset="-120"/>
              </a:rPr>
              <a:t>SECTION 1</a:t>
            </a:r>
            <a:endParaRPr lang="en-US" sz="1100" dirty="0"/>
          </a:p>
        </p:txBody>
      </p:sp>
      <p:sp>
        <p:nvSpPr>
          <p:cNvPr id="3" name="Text 1"/>
          <p:cNvSpPr txBox="1"/>
          <p:nvPr/>
        </p:nvSpPr>
        <p:spPr>
          <a:xfrm>
            <a:off x="640080" y="731520"/>
            <a:ext cx="10881360" cy="960120"/>
          </a:xfrm>
          <a:prstGeom prst="rect">
            <a:avLst/>
          </a:prstGeom>
          <a:noFill/>
          <a:ln/>
        </p:spPr>
        <p:txBody>
          <a:bodyPr wrap="square" lIns="0" tIns="0" rIns="0" bIns="0" rtlCol="0" anchor="t"/>
          <a:lstStyle/>
          <a:p>
            <a:pPr marL="0" indent="0">
              <a:lnSpc>
                <a:spcPct val="110000"/>
              </a:lnSpc>
              <a:buNone/>
            </a:pPr>
            <a:r>
              <a:rPr lang="en-US" sz="2600" b="1" dirty="0">
                <a:solidFill>
                  <a:srgbClr val="1A1A1A"/>
                </a:solidFill>
                <a:latin typeface="Cambria" pitchFamily="34" charset="0"/>
                <a:ea typeface="Cambria" pitchFamily="34" charset="-122"/>
                <a:cs typeface="Cambria" pitchFamily="34" charset="-120"/>
              </a:rPr>
              <a:t>DevOps is the starting point: the same mindset now drives a growing family of operations disciplines.</a:t>
            </a:r>
            <a:endParaRPr lang="en-US" sz="2600" dirty="0"/>
          </a:p>
        </p:txBody>
      </p:sp>
      <p:sp>
        <p:nvSpPr>
          <p:cNvPr id="4" name="Text 2"/>
          <p:cNvSpPr txBox="1"/>
          <p:nvPr/>
        </p:nvSpPr>
        <p:spPr>
          <a:xfrm>
            <a:off x="640080" y="1737360"/>
            <a:ext cx="10881360" cy="502920"/>
          </a:xfrm>
          <a:prstGeom prst="rect">
            <a:avLst/>
          </a:prstGeom>
          <a:noFill/>
          <a:ln/>
        </p:spPr>
        <p:txBody>
          <a:bodyPr wrap="square" lIns="0" tIns="0" rIns="0" bIns="0" rtlCol="0" anchor="t"/>
          <a:lstStyle/>
          <a:p>
            <a:pPr marL="0" indent="0">
              <a:lnSpc>
                <a:spcPct val="125000"/>
              </a:lnSpc>
              <a:buNone/>
            </a:pPr>
            <a:r>
              <a:rPr lang="en-US" sz="1300" dirty="0">
                <a:solidFill>
                  <a:srgbClr val="1A1A1A"/>
                </a:solidFill>
                <a:latin typeface="Arial" pitchFamily="34" charset="0"/>
                <a:ea typeface="Arial" pitchFamily="34" charset="-122"/>
                <a:cs typeface="Arial" pitchFamily="34" charset="-120"/>
              </a:rPr>
              <a:t>The DevOps philosophy — automation, version control, continuous feedback, shared ownership between teams — has proven so effective that it has been applied to nearly every discipline that combines engineering with day-to-day operations.</a:t>
            </a:r>
            <a:endParaRPr lang="en-US" sz="1300" dirty="0"/>
          </a:p>
        </p:txBody>
      </p:sp>
      <p:sp>
        <p:nvSpPr>
          <p:cNvPr id="5" name="Shape 3"/>
          <p:cNvSpPr/>
          <p:nvPr/>
        </p:nvSpPr>
        <p:spPr>
          <a:xfrm>
            <a:off x="640080" y="2377440"/>
            <a:ext cx="3493008" cy="1600200"/>
          </a:xfrm>
          <a:prstGeom prst="rect">
            <a:avLst/>
          </a:prstGeom>
          <a:solidFill>
            <a:srgbClr val="F5F7F6"/>
          </a:solidFill>
          <a:ln w="9525">
            <a:solidFill>
              <a:srgbClr val="E4E7E5"/>
            </a:solidFill>
            <a:prstDash val="solid"/>
          </a:ln>
        </p:spPr>
        <p:txBody>
          <a:bodyPr/>
          <a:lstStyle/>
          <a:p>
            <a:endParaRPr lang="en-CA"/>
          </a:p>
        </p:txBody>
      </p:sp>
      <p:sp>
        <p:nvSpPr>
          <p:cNvPr id="6" name="Shape 4"/>
          <p:cNvSpPr/>
          <p:nvPr/>
        </p:nvSpPr>
        <p:spPr>
          <a:xfrm>
            <a:off x="640080" y="2377440"/>
            <a:ext cx="82296" cy="1600200"/>
          </a:xfrm>
          <a:prstGeom prst="rect">
            <a:avLst/>
          </a:prstGeom>
          <a:solidFill>
            <a:srgbClr val="003328"/>
          </a:solidFill>
          <a:ln/>
        </p:spPr>
        <p:txBody>
          <a:bodyPr/>
          <a:lstStyle/>
          <a:p>
            <a:endParaRPr lang="en-CA"/>
          </a:p>
        </p:txBody>
      </p:sp>
      <p:sp>
        <p:nvSpPr>
          <p:cNvPr id="7" name="Text 5"/>
          <p:cNvSpPr txBox="1"/>
          <p:nvPr/>
        </p:nvSpPr>
        <p:spPr>
          <a:xfrm>
            <a:off x="896112" y="2542032"/>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MLOps</a:t>
            </a:r>
            <a:endParaRPr lang="en-US" sz="2200" dirty="0"/>
          </a:p>
        </p:txBody>
      </p:sp>
      <p:sp>
        <p:nvSpPr>
          <p:cNvPr id="8" name="Text 6"/>
          <p:cNvSpPr txBox="1"/>
          <p:nvPr/>
        </p:nvSpPr>
        <p:spPr>
          <a:xfrm>
            <a:off x="896112" y="3035808"/>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Machine Learning lifecycles</a:t>
            </a:r>
            <a:endParaRPr lang="en-US" sz="1100" dirty="0"/>
          </a:p>
        </p:txBody>
      </p:sp>
      <p:sp>
        <p:nvSpPr>
          <p:cNvPr id="9" name="Text 7"/>
          <p:cNvSpPr txBox="1"/>
          <p:nvPr/>
        </p:nvSpPr>
        <p:spPr>
          <a:xfrm>
            <a:off x="896112" y="3319272"/>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Automating model training, deployment, monitoring, and retraining as data drifts.</a:t>
            </a:r>
            <a:endParaRPr lang="en-US" sz="1100" dirty="0"/>
          </a:p>
        </p:txBody>
      </p:sp>
      <p:sp>
        <p:nvSpPr>
          <p:cNvPr id="10" name="Shape 8"/>
          <p:cNvSpPr/>
          <p:nvPr/>
        </p:nvSpPr>
        <p:spPr>
          <a:xfrm>
            <a:off x="4334256" y="2377440"/>
            <a:ext cx="3493008" cy="1600200"/>
          </a:xfrm>
          <a:prstGeom prst="rect">
            <a:avLst/>
          </a:prstGeom>
          <a:solidFill>
            <a:srgbClr val="F5F7F6"/>
          </a:solidFill>
          <a:ln w="9525">
            <a:solidFill>
              <a:srgbClr val="E4E7E5"/>
            </a:solidFill>
            <a:prstDash val="solid"/>
          </a:ln>
        </p:spPr>
        <p:txBody>
          <a:bodyPr/>
          <a:lstStyle/>
          <a:p>
            <a:endParaRPr lang="en-CA"/>
          </a:p>
        </p:txBody>
      </p:sp>
      <p:sp>
        <p:nvSpPr>
          <p:cNvPr id="11" name="Shape 9"/>
          <p:cNvSpPr/>
          <p:nvPr/>
        </p:nvSpPr>
        <p:spPr>
          <a:xfrm>
            <a:off x="4334256" y="2377440"/>
            <a:ext cx="82296" cy="1600200"/>
          </a:xfrm>
          <a:prstGeom prst="rect">
            <a:avLst/>
          </a:prstGeom>
          <a:solidFill>
            <a:srgbClr val="003328"/>
          </a:solidFill>
          <a:ln/>
        </p:spPr>
        <p:txBody>
          <a:bodyPr/>
          <a:lstStyle/>
          <a:p>
            <a:endParaRPr lang="en-CA"/>
          </a:p>
        </p:txBody>
      </p:sp>
      <p:sp>
        <p:nvSpPr>
          <p:cNvPr id="12" name="Text 10"/>
          <p:cNvSpPr txBox="1"/>
          <p:nvPr/>
        </p:nvSpPr>
        <p:spPr>
          <a:xfrm>
            <a:off x="4590288" y="2542032"/>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AIOps</a:t>
            </a:r>
            <a:endParaRPr lang="en-US" sz="2200" dirty="0"/>
          </a:p>
        </p:txBody>
      </p:sp>
      <p:sp>
        <p:nvSpPr>
          <p:cNvPr id="13" name="Text 11"/>
          <p:cNvSpPr txBox="1"/>
          <p:nvPr/>
        </p:nvSpPr>
        <p:spPr>
          <a:xfrm>
            <a:off x="4590288" y="3035808"/>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AI for IT operations</a:t>
            </a:r>
            <a:endParaRPr lang="en-US" sz="1100" dirty="0"/>
          </a:p>
        </p:txBody>
      </p:sp>
      <p:sp>
        <p:nvSpPr>
          <p:cNvPr id="14" name="Text 12"/>
          <p:cNvSpPr txBox="1"/>
          <p:nvPr/>
        </p:nvSpPr>
        <p:spPr>
          <a:xfrm>
            <a:off x="4590288" y="3319272"/>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AI-driven anomaly detection, automated incident triage, and root-cause analysis at scale.</a:t>
            </a:r>
            <a:endParaRPr lang="en-US" sz="1100" dirty="0"/>
          </a:p>
        </p:txBody>
      </p:sp>
      <p:sp>
        <p:nvSpPr>
          <p:cNvPr id="15" name="Shape 13"/>
          <p:cNvSpPr/>
          <p:nvPr/>
        </p:nvSpPr>
        <p:spPr>
          <a:xfrm>
            <a:off x="8028432" y="2377440"/>
            <a:ext cx="3493008" cy="1600200"/>
          </a:xfrm>
          <a:prstGeom prst="rect">
            <a:avLst/>
          </a:prstGeom>
          <a:solidFill>
            <a:srgbClr val="F5F7F6"/>
          </a:solidFill>
          <a:ln w="9525">
            <a:solidFill>
              <a:srgbClr val="E4E7E5"/>
            </a:solidFill>
            <a:prstDash val="solid"/>
          </a:ln>
        </p:spPr>
        <p:txBody>
          <a:bodyPr/>
          <a:lstStyle/>
          <a:p>
            <a:endParaRPr lang="en-CA"/>
          </a:p>
        </p:txBody>
      </p:sp>
      <p:sp>
        <p:nvSpPr>
          <p:cNvPr id="16" name="Shape 14"/>
          <p:cNvSpPr/>
          <p:nvPr/>
        </p:nvSpPr>
        <p:spPr>
          <a:xfrm>
            <a:off x="8028432" y="2377440"/>
            <a:ext cx="82296" cy="1600200"/>
          </a:xfrm>
          <a:prstGeom prst="rect">
            <a:avLst/>
          </a:prstGeom>
          <a:solidFill>
            <a:srgbClr val="003328"/>
          </a:solidFill>
          <a:ln/>
        </p:spPr>
        <p:txBody>
          <a:bodyPr/>
          <a:lstStyle/>
          <a:p>
            <a:endParaRPr lang="en-CA"/>
          </a:p>
        </p:txBody>
      </p:sp>
      <p:sp>
        <p:nvSpPr>
          <p:cNvPr id="17" name="Text 15"/>
          <p:cNvSpPr txBox="1"/>
          <p:nvPr/>
        </p:nvSpPr>
        <p:spPr>
          <a:xfrm>
            <a:off x="8284464" y="2542032"/>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DataOps</a:t>
            </a:r>
            <a:endParaRPr lang="en-US" sz="2200" dirty="0"/>
          </a:p>
        </p:txBody>
      </p:sp>
      <p:sp>
        <p:nvSpPr>
          <p:cNvPr id="18" name="Text 16"/>
          <p:cNvSpPr txBox="1"/>
          <p:nvPr/>
        </p:nvSpPr>
        <p:spPr>
          <a:xfrm>
            <a:off x="8284464" y="3035808"/>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Data pipelines &amp; analytics</a:t>
            </a:r>
            <a:endParaRPr lang="en-US" sz="1100" dirty="0"/>
          </a:p>
        </p:txBody>
      </p:sp>
      <p:sp>
        <p:nvSpPr>
          <p:cNvPr id="19" name="Text 17"/>
          <p:cNvSpPr txBox="1"/>
          <p:nvPr/>
        </p:nvSpPr>
        <p:spPr>
          <a:xfrm>
            <a:off x="8284464" y="3319272"/>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CI/CD for data engineering: reliable, tested, and governed data from source to analytics.</a:t>
            </a:r>
            <a:endParaRPr lang="en-US" sz="1100" dirty="0"/>
          </a:p>
        </p:txBody>
      </p:sp>
      <p:sp>
        <p:nvSpPr>
          <p:cNvPr id="20" name="Shape 18"/>
          <p:cNvSpPr/>
          <p:nvPr/>
        </p:nvSpPr>
        <p:spPr>
          <a:xfrm>
            <a:off x="640080" y="4178808"/>
            <a:ext cx="3493008" cy="1600200"/>
          </a:xfrm>
          <a:prstGeom prst="rect">
            <a:avLst/>
          </a:prstGeom>
          <a:solidFill>
            <a:srgbClr val="F5F7F6"/>
          </a:solidFill>
          <a:ln w="9525">
            <a:solidFill>
              <a:srgbClr val="E4E7E5"/>
            </a:solidFill>
            <a:prstDash val="solid"/>
          </a:ln>
        </p:spPr>
        <p:txBody>
          <a:bodyPr/>
          <a:lstStyle/>
          <a:p>
            <a:endParaRPr lang="en-CA"/>
          </a:p>
        </p:txBody>
      </p:sp>
      <p:sp>
        <p:nvSpPr>
          <p:cNvPr id="21" name="Shape 19"/>
          <p:cNvSpPr/>
          <p:nvPr/>
        </p:nvSpPr>
        <p:spPr>
          <a:xfrm>
            <a:off x="640080" y="4178808"/>
            <a:ext cx="82296" cy="1600200"/>
          </a:xfrm>
          <a:prstGeom prst="rect">
            <a:avLst/>
          </a:prstGeom>
          <a:solidFill>
            <a:srgbClr val="003328"/>
          </a:solidFill>
          <a:ln/>
        </p:spPr>
        <p:txBody>
          <a:bodyPr/>
          <a:lstStyle/>
          <a:p>
            <a:endParaRPr lang="en-CA"/>
          </a:p>
        </p:txBody>
      </p:sp>
      <p:sp>
        <p:nvSpPr>
          <p:cNvPr id="22" name="Text 20"/>
          <p:cNvSpPr txBox="1"/>
          <p:nvPr/>
        </p:nvSpPr>
        <p:spPr>
          <a:xfrm>
            <a:off x="896112" y="4343400"/>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DevSecOps</a:t>
            </a:r>
            <a:endParaRPr lang="en-US" sz="2200" dirty="0"/>
          </a:p>
        </p:txBody>
      </p:sp>
      <p:sp>
        <p:nvSpPr>
          <p:cNvPr id="23" name="Text 21"/>
          <p:cNvSpPr txBox="1"/>
          <p:nvPr/>
        </p:nvSpPr>
        <p:spPr>
          <a:xfrm>
            <a:off x="896112" y="4837176"/>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Security in the pipeline</a:t>
            </a:r>
            <a:endParaRPr lang="en-US" sz="1100" dirty="0"/>
          </a:p>
        </p:txBody>
      </p:sp>
      <p:sp>
        <p:nvSpPr>
          <p:cNvPr id="24" name="Text 22"/>
          <p:cNvSpPr txBox="1"/>
          <p:nvPr/>
        </p:nvSpPr>
        <p:spPr>
          <a:xfrm>
            <a:off x="896112" y="5120640"/>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Security integrated into every stage of the pipeline — not audited at the end, but built in.</a:t>
            </a:r>
            <a:endParaRPr lang="en-US" sz="1100" dirty="0"/>
          </a:p>
        </p:txBody>
      </p:sp>
      <p:sp>
        <p:nvSpPr>
          <p:cNvPr id="25" name="Shape 23"/>
          <p:cNvSpPr/>
          <p:nvPr/>
        </p:nvSpPr>
        <p:spPr>
          <a:xfrm>
            <a:off x="4334256" y="4178808"/>
            <a:ext cx="3493008" cy="1600200"/>
          </a:xfrm>
          <a:prstGeom prst="rect">
            <a:avLst/>
          </a:prstGeom>
          <a:solidFill>
            <a:srgbClr val="F5F7F6"/>
          </a:solidFill>
          <a:ln w="9525">
            <a:solidFill>
              <a:srgbClr val="E4E7E5"/>
            </a:solidFill>
            <a:prstDash val="solid"/>
          </a:ln>
        </p:spPr>
        <p:txBody>
          <a:bodyPr/>
          <a:lstStyle/>
          <a:p>
            <a:endParaRPr lang="en-CA"/>
          </a:p>
        </p:txBody>
      </p:sp>
      <p:sp>
        <p:nvSpPr>
          <p:cNvPr id="26" name="Shape 24"/>
          <p:cNvSpPr/>
          <p:nvPr/>
        </p:nvSpPr>
        <p:spPr>
          <a:xfrm>
            <a:off x="4334256" y="4178808"/>
            <a:ext cx="82296" cy="1600200"/>
          </a:xfrm>
          <a:prstGeom prst="rect">
            <a:avLst/>
          </a:prstGeom>
          <a:solidFill>
            <a:srgbClr val="003328"/>
          </a:solidFill>
          <a:ln/>
        </p:spPr>
        <p:txBody>
          <a:bodyPr/>
          <a:lstStyle/>
          <a:p>
            <a:endParaRPr lang="en-CA"/>
          </a:p>
        </p:txBody>
      </p:sp>
      <p:sp>
        <p:nvSpPr>
          <p:cNvPr id="27" name="Text 25"/>
          <p:cNvSpPr txBox="1"/>
          <p:nvPr/>
        </p:nvSpPr>
        <p:spPr>
          <a:xfrm>
            <a:off x="4590288" y="4343400"/>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NetOps</a:t>
            </a:r>
            <a:endParaRPr lang="en-US" sz="2200" dirty="0"/>
          </a:p>
        </p:txBody>
      </p:sp>
      <p:sp>
        <p:nvSpPr>
          <p:cNvPr id="28" name="Text 26"/>
          <p:cNvSpPr txBox="1"/>
          <p:nvPr/>
        </p:nvSpPr>
        <p:spPr>
          <a:xfrm>
            <a:off x="4590288" y="4837176"/>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Network operations</a:t>
            </a:r>
            <a:endParaRPr lang="en-US" sz="1100" dirty="0"/>
          </a:p>
        </p:txBody>
      </p:sp>
      <p:sp>
        <p:nvSpPr>
          <p:cNvPr id="29" name="Text 27"/>
          <p:cNvSpPr txBox="1"/>
          <p:nvPr/>
        </p:nvSpPr>
        <p:spPr>
          <a:xfrm>
            <a:off x="4590288" y="5120640"/>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DevOps practices applied to network infrastructure: version-controlled configs, automated deploys, and continuous monitoring.</a:t>
            </a:r>
            <a:endParaRPr lang="en-US" sz="1100" dirty="0"/>
          </a:p>
        </p:txBody>
      </p:sp>
      <p:sp>
        <p:nvSpPr>
          <p:cNvPr id="30" name="Shape 28"/>
          <p:cNvSpPr/>
          <p:nvPr/>
        </p:nvSpPr>
        <p:spPr>
          <a:xfrm>
            <a:off x="8028432" y="4178808"/>
            <a:ext cx="3493008" cy="1600200"/>
          </a:xfrm>
          <a:prstGeom prst="rect">
            <a:avLst/>
          </a:prstGeom>
          <a:solidFill>
            <a:srgbClr val="F5F7F6"/>
          </a:solidFill>
          <a:ln w="9525">
            <a:solidFill>
              <a:srgbClr val="E4E7E5"/>
            </a:solidFill>
            <a:prstDash val="solid"/>
          </a:ln>
        </p:spPr>
        <p:txBody>
          <a:bodyPr/>
          <a:lstStyle/>
          <a:p>
            <a:endParaRPr lang="en-CA"/>
          </a:p>
        </p:txBody>
      </p:sp>
      <p:sp>
        <p:nvSpPr>
          <p:cNvPr id="31" name="Shape 29"/>
          <p:cNvSpPr/>
          <p:nvPr/>
        </p:nvSpPr>
        <p:spPr>
          <a:xfrm>
            <a:off x="8028432" y="4178808"/>
            <a:ext cx="82296" cy="1600200"/>
          </a:xfrm>
          <a:prstGeom prst="rect">
            <a:avLst/>
          </a:prstGeom>
          <a:solidFill>
            <a:srgbClr val="003328"/>
          </a:solidFill>
          <a:ln/>
        </p:spPr>
        <p:txBody>
          <a:bodyPr/>
          <a:lstStyle/>
          <a:p>
            <a:endParaRPr lang="en-CA"/>
          </a:p>
        </p:txBody>
      </p:sp>
      <p:sp>
        <p:nvSpPr>
          <p:cNvPr id="32" name="Text 30"/>
          <p:cNvSpPr txBox="1"/>
          <p:nvPr/>
        </p:nvSpPr>
        <p:spPr>
          <a:xfrm>
            <a:off x="8284464" y="4343400"/>
            <a:ext cx="3127248" cy="502920"/>
          </a:xfrm>
          <a:prstGeom prst="rect">
            <a:avLst/>
          </a:prstGeom>
          <a:noFill/>
          <a:ln/>
        </p:spPr>
        <p:txBody>
          <a:bodyPr wrap="square" lIns="0" tIns="0" rIns="0" bIns="0" rtlCol="0" anchor="t"/>
          <a:lstStyle/>
          <a:p>
            <a:pPr marL="0" indent="0">
              <a:buNone/>
            </a:pPr>
            <a:r>
              <a:rPr lang="en-US" sz="2200" b="1" dirty="0">
                <a:solidFill>
                  <a:srgbClr val="006341"/>
                </a:solidFill>
                <a:latin typeface="Cambria" pitchFamily="34" charset="0"/>
                <a:ea typeface="Cambria" pitchFamily="34" charset="-122"/>
                <a:cs typeface="Cambria" pitchFamily="34" charset="-120"/>
              </a:rPr>
              <a:t>FinOps</a:t>
            </a:r>
            <a:endParaRPr lang="en-US" sz="2200" dirty="0"/>
          </a:p>
        </p:txBody>
      </p:sp>
      <p:sp>
        <p:nvSpPr>
          <p:cNvPr id="33" name="Text 31"/>
          <p:cNvSpPr txBox="1"/>
          <p:nvPr/>
        </p:nvSpPr>
        <p:spPr>
          <a:xfrm>
            <a:off x="8284464" y="4837176"/>
            <a:ext cx="3127248" cy="256032"/>
          </a:xfrm>
          <a:prstGeom prst="rect">
            <a:avLst/>
          </a:prstGeom>
          <a:noFill/>
          <a:ln/>
        </p:spPr>
        <p:txBody>
          <a:bodyPr wrap="square" lIns="0" tIns="0" rIns="0" bIns="0" rtlCol="0" anchor="t"/>
          <a:lstStyle/>
          <a:p>
            <a:pPr marL="0" indent="0">
              <a:buNone/>
            </a:pPr>
            <a:r>
              <a:rPr lang="en-US" sz="1100" b="1" dirty="0">
                <a:solidFill>
                  <a:srgbClr val="5B5F5C"/>
                </a:solidFill>
                <a:latin typeface="Arial" pitchFamily="34" charset="0"/>
                <a:ea typeface="Arial" pitchFamily="34" charset="-122"/>
                <a:cs typeface="Arial" pitchFamily="34" charset="-120"/>
              </a:rPr>
              <a:t>Cloud cost accountability</a:t>
            </a:r>
            <a:endParaRPr lang="en-US" sz="1100" dirty="0"/>
          </a:p>
        </p:txBody>
      </p:sp>
      <p:sp>
        <p:nvSpPr>
          <p:cNvPr id="34" name="Text 32"/>
          <p:cNvSpPr txBox="1"/>
          <p:nvPr/>
        </p:nvSpPr>
        <p:spPr>
          <a:xfrm>
            <a:off x="8284464" y="5120640"/>
            <a:ext cx="3127248" cy="594360"/>
          </a:xfrm>
          <a:prstGeom prst="rect">
            <a:avLst/>
          </a:prstGeom>
          <a:noFill/>
          <a:ln/>
        </p:spPr>
        <p:txBody>
          <a:bodyPr wrap="square" lIns="0" tIns="0" rIns="0" bIns="0" rtlCol="0" anchor="t"/>
          <a:lstStyle/>
          <a:p>
            <a:pPr marL="0" indent="0">
              <a:lnSpc>
                <a:spcPct val="125000"/>
              </a:lnSpc>
              <a:buNone/>
            </a:pPr>
            <a:r>
              <a:rPr lang="en-US" sz="1100" dirty="0">
                <a:solidFill>
                  <a:srgbClr val="1A1A1A"/>
                </a:solidFill>
                <a:latin typeface="Arial" pitchFamily="34" charset="0"/>
                <a:ea typeface="Arial" pitchFamily="34" charset="-122"/>
                <a:cs typeface="Arial" pitchFamily="34" charset="-120"/>
              </a:rPr>
              <a:t>Engineering, finance, and operations aligned on cloud spend — cost as an engineering decision.</a:t>
            </a:r>
            <a:endParaRPr lang="en-US" sz="1100" dirty="0"/>
          </a:p>
        </p:txBody>
      </p:sp>
      <p:sp>
        <p:nvSpPr>
          <p:cNvPr id="36" name="Shape 34"/>
          <p:cNvSpPr/>
          <p:nvPr/>
        </p:nvSpPr>
        <p:spPr>
          <a:xfrm>
            <a:off x="548640" y="6446520"/>
            <a:ext cx="11091672" cy="0"/>
          </a:xfrm>
          <a:prstGeom prst="line">
            <a:avLst/>
          </a:prstGeom>
          <a:noFill/>
          <a:ln w="9525">
            <a:solidFill>
              <a:srgbClr val="D9DEDB"/>
            </a:solidFill>
            <a:prstDash val="solid"/>
          </a:ln>
        </p:spPr>
        <p:txBody>
          <a:bodyPr/>
          <a:lstStyle/>
          <a:p>
            <a:endParaRPr lang="en-CA"/>
          </a:p>
        </p:txBody>
      </p:sp>
      <p:pic>
        <p:nvPicPr>
          <p:cNvPr id="37" name="Image 0" descr="preencoded.png"/>
          <p:cNvPicPr>
            <a:picLocks noChangeAspect="1"/>
          </p:cNvPicPr>
          <p:nvPr/>
        </p:nvPicPr>
        <p:blipFill>
          <a:blip r:embed="rId3"/>
          <a:stretch>
            <a:fillRect/>
          </a:stretch>
        </p:blipFill>
        <p:spPr>
          <a:xfrm>
            <a:off x="548640" y="6483096"/>
            <a:ext cx="274320" cy="203911"/>
          </a:xfrm>
          <a:prstGeom prst="rect">
            <a:avLst/>
          </a:prstGeom>
        </p:spPr>
      </p:pic>
      <p:sp>
        <p:nvSpPr>
          <p:cNvPr id="38" name="Text 35"/>
          <p:cNvSpPr txBox="1"/>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328"/>
        </a:solidFill>
        <a:effectLst/>
      </p:bgPr>
    </p:bg>
    <p:spTree>
      <p:nvGrpSpPr>
        <p:cNvPr id="1" name=""/>
        <p:cNvGrpSpPr/>
        <p:nvPr/>
      </p:nvGrpSpPr>
      <p:grpSpPr>
        <a:xfrm>
          <a:off x="0" y="0"/>
          <a:ext cx="0" cy="0"/>
          <a:chOff x="0" y="0"/>
          <a:chExt cx="0" cy="0"/>
        </a:xfrm>
      </p:grpSpPr>
      <p:sp>
        <p:nvSpPr>
          <p:cNvPr id="2" name="Text 0"/>
          <p:cNvSpPr/>
          <p:nvPr/>
        </p:nvSpPr>
        <p:spPr>
          <a:xfrm>
            <a:off x="822960" y="2606040"/>
            <a:ext cx="10058400" cy="457200"/>
          </a:xfrm>
          <a:prstGeom prst="rect">
            <a:avLst/>
          </a:prstGeom>
          <a:noFill/>
          <a:ln/>
        </p:spPr>
        <p:txBody>
          <a:bodyPr wrap="square" lIns="0" tIns="0" rIns="0" bIns="0" rtlCol="0" anchor="ctr"/>
          <a:lstStyle/>
          <a:p>
            <a:pPr marL="0" indent="0">
              <a:buNone/>
            </a:pPr>
            <a:r>
              <a:rPr lang="en-US" sz="1400" b="1" kern="0" spc="200" dirty="0">
                <a:solidFill>
                  <a:srgbClr val="43B02A"/>
                </a:solidFill>
                <a:latin typeface="Arial" pitchFamily="34" charset="0"/>
                <a:ea typeface="Arial" pitchFamily="34" charset="-122"/>
                <a:cs typeface="Arial" pitchFamily="34" charset="-120"/>
              </a:rPr>
              <a:t>SECTION 2</a:t>
            </a:r>
            <a:endParaRPr lang="en-US" sz="1400" dirty="0"/>
          </a:p>
        </p:txBody>
      </p:sp>
      <p:sp>
        <p:nvSpPr>
          <p:cNvPr id="3" name="Text 1"/>
          <p:cNvSpPr/>
          <p:nvPr/>
        </p:nvSpPr>
        <p:spPr>
          <a:xfrm>
            <a:off x="822960" y="3063240"/>
            <a:ext cx="105156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How This Course Works</a:t>
            </a:r>
            <a:endParaRPr lang="en-US" sz="3400" dirty="0"/>
          </a:p>
        </p:txBody>
      </p:sp>
      <p:sp>
        <p:nvSpPr>
          <p:cNvPr id="4" name="Shape 2"/>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5"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6" name="Text 3"/>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7" name="Text 4"/>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3"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4" name="Text 1"/>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5" name="Text 2"/>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8</a:t>
            </a:r>
            <a:endParaRPr lang="en-US" sz="1000" dirty="0"/>
          </a:p>
        </p:txBody>
      </p:sp>
      <p:sp>
        <p:nvSpPr>
          <p:cNvPr id="6" name="Text 3"/>
          <p:cNvSpPr/>
          <p:nvPr/>
        </p:nvSpPr>
        <p:spPr>
          <a:xfrm>
            <a:off x="640080" y="411480"/>
            <a:ext cx="10881360" cy="320040"/>
          </a:xfrm>
          <a:prstGeom prst="rect">
            <a:avLst/>
          </a:prstGeom>
          <a:noFill/>
          <a:ln/>
        </p:spPr>
        <p:txBody>
          <a:bodyPr wrap="square" lIns="0" tIns="0" rIns="0" bIns="0" rtlCol="0" anchor="ctr"/>
          <a:lstStyle/>
          <a:p>
            <a:pPr marL="0" indent="0">
              <a:buNone/>
            </a:pPr>
            <a:r>
              <a:rPr lang="en-US" sz="1100" b="1" kern="0" spc="150" dirty="0">
                <a:solidFill>
                  <a:srgbClr val="006341"/>
                </a:solidFill>
                <a:latin typeface="Arial" pitchFamily="34" charset="0"/>
                <a:ea typeface="Arial" pitchFamily="34" charset="-122"/>
                <a:cs typeface="Arial" pitchFamily="34" charset="-120"/>
              </a:rPr>
              <a:t>SECTION 2</a:t>
            </a:r>
            <a:endParaRPr lang="en-US" sz="1100" dirty="0"/>
          </a:p>
        </p:txBody>
      </p:sp>
      <p:sp>
        <p:nvSpPr>
          <p:cNvPr id="7" name="Text 4"/>
          <p:cNvSpPr/>
          <p:nvPr/>
        </p:nvSpPr>
        <p:spPr>
          <a:xfrm>
            <a:off x="640080" y="731520"/>
            <a:ext cx="10881360" cy="914400"/>
          </a:xfrm>
          <a:prstGeom prst="rect">
            <a:avLst/>
          </a:prstGeom>
          <a:noFill/>
          <a:ln/>
        </p:spPr>
        <p:txBody>
          <a:bodyPr wrap="square" lIns="0" tIns="0" rIns="0" bIns="0" rtlCol="0" anchor="t"/>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Every week runs as two separate sessions: a lecture and a lab.</a:t>
            </a:r>
            <a:endParaRPr lang="en-US" sz="2700" dirty="0"/>
          </a:p>
        </p:txBody>
      </p:sp>
      <p:sp>
        <p:nvSpPr>
          <p:cNvPr id="8" name="Shape 5"/>
          <p:cNvSpPr/>
          <p:nvPr/>
        </p:nvSpPr>
        <p:spPr>
          <a:xfrm>
            <a:off x="640080" y="2057400"/>
            <a:ext cx="2103120" cy="1280160"/>
          </a:xfrm>
          <a:prstGeom prst="rect">
            <a:avLst/>
          </a:prstGeom>
          <a:solidFill>
            <a:srgbClr val="006341"/>
          </a:solidFill>
          <a:ln/>
        </p:spPr>
        <p:txBody>
          <a:bodyPr/>
          <a:lstStyle/>
          <a:p>
            <a:endParaRPr lang="en-US"/>
          </a:p>
        </p:txBody>
      </p:sp>
      <p:sp>
        <p:nvSpPr>
          <p:cNvPr id="9" name="Text 6"/>
          <p:cNvSpPr/>
          <p:nvPr/>
        </p:nvSpPr>
        <p:spPr>
          <a:xfrm>
            <a:off x="640080" y="2057400"/>
            <a:ext cx="2103120" cy="12801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Lecture</a:t>
            </a:r>
            <a:endParaRPr lang="en-US" sz="1800" dirty="0"/>
          </a:p>
        </p:txBody>
      </p:sp>
      <p:sp>
        <p:nvSpPr>
          <p:cNvPr id="10" name="Text 7"/>
          <p:cNvSpPr/>
          <p:nvPr/>
        </p:nvSpPr>
        <p:spPr>
          <a:xfrm>
            <a:off x="3017520" y="2057400"/>
            <a:ext cx="8503920" cy="128016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Arial" pitchFamily="34" charset="0"/>
                <a:ea typeface="Arial" pitchFamily="34" charset="-122"/>
                <a:cs typeface="Arial" pitchFamily="34" charset="-120"/>
              </a:rPr>
              <a:t>Concepts, worked examples, live demonstration. Slides alternate with a short notebook for each topic: we explain an idea, then run it together, then move to the next idea.</a:t>
            </a:r>
            <a:endParaRPr lang="en-US" sz="1600" dirty="0"/>
          </a:p>
        </p:txBody>
      </p:sp>
      <p:sp>
        <p:nvSpPr>
          <p:cNvPr id="11" name="Shape 8"/>
          <p:cNvSpPr/>
          <p:nvPr/>
        </p:nvSpPr>
        <p:spPr>
          <a:xfrm>
            <a:off x="640080" y="3611880"/>
            <a:ext cx="2103120" cy="1280160"/>
          </a:xfrm>
          <a:prstGeom prst="rect">
            <a:avLst/>
          </a:prstGeom>
          <a:solidFill>
            <a:srgbClr val="003328"/>
          </a:solidFill>
          <a:ln/>
        </p:spPr>
        <p:txBody>
          <a:bodyPr/>
          <a:lstStyle/>
          <a:p>
            <a:endParaRPr lang="en-US"/>
          </a:p>
        </p:txBody>
      </p:sp>
      <p:sp>
        <p:nvSpPr>
          <p:cNvPr id="12" name="Text 9"/>
          <p:cNvSpPr/>
          <p:nvPr/>
        </p:nvSpPr>
        <p:spPr>
          <a:xfrm>
            <a:off x="640080" y="3611880"/>
            <a:ext cx="2103120" cy="12801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Lab</a:t>
            </a:r>
            <a:endParaRPr lang="en-US" sz="1800" dirty="0"/>
          </a:p>
        </p:txBody>
      </p:sp>
      <p:sp>
        <p:nvSpPr>
          <p:cNvPr id="13" name="Text 10"/>
          <p:cNvSpPr/>
          <p:nvPr/>
        </p:nvSpPr>
        <p:spPr>
          <a:xfrm>
            <a:off x="3017520" y="3611880"/>
            <a:ext cx="8503920" cy="128016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Arial" pitchFamily="34" charset="0"/>
                <a:ea typeface="Arial" pitchFamily="34" charset="-122"/>
                <a:cs typeface="Arial" pitchFamily="34" charset="-120"/>
              </a:rPr>
              <a:t>A separate, graded, hands-on session. You apply what the lecture covered to a new, larger problem, independently.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003328"/>
        </a:solidFill>
        <a:effectLst/>
      </p:bgPr>
    </p:bg>
    <p:spTree>
      <p:nvGrpSpPr>
        <p:cNvPr id="1" name=""/>
        <p:cNvGrpSpPr/>
        <p:nvPr/>
      </p:nvGrpSpPr>
      <p:grpSpPr>
        <a:xfrm>
          <a:off x="0" y="0"/>
          <a:ext cx="0" cy="0"/>
          <a:chOff x="0" y="0"/>
          <a:chExt cx="0" cy="0"/>
        </a:xfrm>
      </p:grpSpPr>
      <p:sp>
        <p:nvSpPr>
          <p:cNvPr id="2" name="Text 0"/>
          <p:cNvSpPr/>
          <p:nvPr/>
        </p:nvSpPr>
        <p:spPr>
          <a:xfrm>
            <a:off x="822960" y="2606040"/>
            <a:ext cx="10058400" cy="457200"/>
          </a:xfrm>
          <a:prstGeom prst="rect">
            <a:avLst/>
          </a:prstGeom>
          <a:noFill/>
          <a:ln/>
        </p:spPr>
        <p:txBody>
          <a:bodyPr wrap="square" lIns="0" tIns="0" rIns="0" bIns="0" rtlCol="0" anchor="ctr"/>
          <a:lstStyle/>
          <a:p>
            <a:pPr marL="0" indent="0">
              <a:buNone/>
            </a:pPr>
            <a:r>
              <a:rPr lang="en-US" sz="1400" b="1" kern="0" spc="200" dirty="0">
                <a:solidFill>
                  <a:srgbClr val="43B02A"/>
                </a:solidFill>
                <a:latin typeface="Arial" pitchFamily="34" charset="0"/>
                <a:ea typeface="Arial" pitchFamily="34" charset="-122"/>
                <a:cs typeface="Arial" pitchFamily="34" charset="-120"/>
              </a:rPr>
              <a:t>SECTION 3</a:t>
            </a:r>
            <a:endParaRPr lang="en-US" sz="1400" dirty="0"/>
          </a:p>
        </p:txBody>
      </p:sp>
      <p:sp>
        <p:nvSpPr>
          <p:cNvPr id="3" name="Text 1"/>
          <p:cNvSpPr/>
          <p:nvPr/>
        </p:nvSpPr>
        <p:spPr>
          <a:xfrm>
            <a:off x="822960" y="3063240"/>
            <a:ext cx="105156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Getting Your Environment Ready</a:t>
            </a:r>
            <a:endParaRPr lang="en-US" sz="3400" dirty="0"/>
          </a:p>
        </p:txBody>
      </p:sp>
      <p:sp>
        <p:nvSpPr>
          <p:cNvPr id="4" name="Shape 2"/>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5"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6" name="Text 3"/>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7" name="Text 4"/>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6446520"/>
            <a:ext cx="11094415" cy="0"/>
          </a:xfrm>
          <a:prstGeom prst="line">
            <a:avLst/>
          </a:prstGeom>
          <a:noFill/>
          <a:ln w="9525">
            <a:solidFill>
              <a:srgbClr val="D9DEDB"/>
            </a:solidFill>
            <a:prstDash val="solid"/>
          </a:ln>
        </p:spPr>
        <p:txBody>
          <a:bodyPr/>
          <a:lstStyle/>
          <a:p>
            <a:endParaRPr lang="en-US"/>
          </a:p>
        </p:txBody>
      </p:sp>
      <p:pic>
        <p:nvPicPr>
          <p:cNvPr id="3" name="Image 0" descr="/home/claude/slides/assets/algonquin_logo.png"/>
          <p:cNvPicPr>
            <a:picLocks noChangeAspect="1"/>
          </p:cNvPicPr>
          <p:nvPr/>
        </p:nvPicPr>
        <p:blipFill>
          <a:blip r:embed="rId3"/>
          <a:stretch>
            <a:fillRect/>
          </a:stretch>
        </p:blipFill>
        <p:spPr>
          <a:xfrm>
            <a:off x="548640" y="6473952"/>
            <a:ext cx="274320" cy="203957"/>
          </a:xfrm>
          <a:prstGeom prst="rect">
            <a:avLst/>
          </a:prstGeom>
        </p:spPr>
      </p:pic>
      <p:sp>
        <p:nvSpPr>
          <p:cNvPr id="4" name="Text 1"/>
          <p:cNvSpPr/>
          <p:nvPr/>
        </p:nvSpPr>
        <p:spPr>
          <a:xfrm>
            <a:off x="932688" y="6492240"/>
            <a:ext cx="7315200" cy="274320"/>
          </a:xfrm>
          <a:prstGeom prst="rect">
            <a:avLst/>
          </a:prstGeom>
          <a:noFill/>
          <a:ln/>
        </p:spPr>
        <p:txBody>
          <a:bodyPr wrap="square" lIns="0" tIns="0" rIns="0" bIns="0" rtlCol="0" anchor="ctr"/>
          <a:lstStyle/>
          <a:p>
            <a:pPr marL="0" indent="0">
              <a:buNone/>
            </a:pPr>
            <a:r>
              <a:rPr lang="en-US" sz="1000" dirty="0">
                <a:solidFill>
                  <a:srgbClr val="5B5F5C"/>
                </a:solidFill>
                <a:latin typeface="Arial" pitchFamily="34" charset="0"/>
                <a:ea typeface="Arial" pitchFamily="34" charset="-122"/>
                <a:cs typeface="Arial" pitchFamily="34" charset="-120"/>
              </a:rPr>
              <a:t>NET2008 DevOps  ·  LECTURE  ·  Week 2  ·  Algonquin College</a:t>
            </a:r>
            <a:endParaRPr lang="en-US" sz="1000" dirty="0"/>
          </a:p>
        </p:txBody>
      </p:sp>
      <p:sp>
        <p:nvSpPr>
          <p:cNvPr id="5" name="Text 2"/>
          <p:cNvSpPr/>
          <p:nvPr/>
        </p:nvSpPr>
        <p:spPr>
          <a:xfrm>
            <a:off x="11094415" y="6492240"/>
            <a:ext cx="548640" cy="274320"/>
          </a:xfrm>
          <a:prstGeom prst="rect">
            <a:avLst/>
          </a:prstGeom>
          <a:noFill/>
          <a:ln/>
        </p:spPr>
        <p:txBody>
          <a:bodyPr wrap="square" lIns="0" tIns="0" rIns="0" bIns="0" rtlCol="0" anchor="ctr"/>
          <a:lstStyle/>
          <a:p>
            <a:pPr marL="0" indent="0" algn="r">
              <a:buNone/>
            </a:pPr>
            <a:r>
              <a:rPr lang="en-US" sz="1000" dirty="0">
                <a:solidFill>
                  <a:srgbClr val="5B5F5C"/>
                </a:solidFill>
                <a:latin typeface="Arial" pitchFamily="34" charset="0"/>
                <a:ea typeface="Arial" pitchFamily="34" charset="-122"/>
                <a:cs typeface="Arial" pitchFamily="34" charset="-120"/>
              </a:rPr>
              <a:t>13</a:t>
            </a:r>
            <a:endParaRPr lang="en-US" sz="1000" dirty="0"/>
          </a:p>
        </p:txBody>
      </p:sp>
      <p:sp>
        <p:nvSpPr>
          <p:cNvPr id="6" name="Text 3"/>
          <p:cNvSpPr/>
          <p:nvPr/>
        </p:nvSpPr>
        <p:spPr>
          <a:xfrm>
            <a:off x="640080" y="411480"/>
            <a:ext cx="10881360" cy="320040"/>
          </a:xfrm>
          <a:prstGeom prst="rect">
            <a:avLst/>
          </a:prstGeom>
          <a:noFill/>
          <a:ln/>
        </p:spPr>
        <p:txBody>
          <a:bodyPr wrap="square" lIns="0" tIns="0" rIns="0" bIns="0" rtlCol="0" anchor="ctr"/>
          <a:lstStyle/>
          <a:p>
            <a:pPr marL="0" indent="0">
              <a:buNone/>
            </a:pPr>
            <a:r>
              <a:rPr lang="en-US" sz="1100" b="1" kern="0" spc="150" dirty="0">
                <a:solidFill>
                  <a:srgbClr val="006341"/>
                </a:solidFill>
                <a:latin typeface="Arial" pitchFamily="34" charset="0"/>
                <a:ea typeface="Arial" pitchFamily="34" charset="-122"/>
                <a:cs typeface="Arial" pitchFamily="34" charset="-120"/>
              </a:rPr>
              <a:t>SECTION 3</a:t>
            </a:r>
            <a:endParaRPr lang="en-US" sz="1100" dirty="0"/>
          </a:p>
        </p:txBody>
      </p:sp>
      <p:sp>
        <p:nvSpPr>
          <p:cNvPr id="7" name="Text 4"/>
          <p:cNvSpPr/>
          <p:nvPr/>
        </p:nvSpPr>
        <p:spPr>
          <a:xfrm>
            <a:off x="640080" y="731520"/>
            <a:ext cx="10881360" cy="914400"/>
          </a:xfrm>
          <a:prstGeom prst="rect">
            <a:avLst/>
          </a:prstGeom>
          <a:noFill/>
          <a:ln/>
        </p:spPr>
        <p:txBody>
          <a:bodyPr wrap="square" lIns="0" tIns="0" rIns="0" bIns="0" rtlCol="0" anchor="t"/>
          <a:lstStyle/>
          <a:p>
            <a:pPr marL="0" indent="0">
              <a:lnSpc>
                <a:spcPct val="105000"/>
              </a:lnSpc>
              <a:buNone/>
            </a:pPr>
            <a:r>
              <a:rPr lang="en-US" sz="2700" b="1" dirty="0">
                <a:solidFill>
                  <a:srgbClr val="1A1A1A"/>
                </a:solidFill>
                <a:latin typeface="Cambria" pitchFamily="34" charset="0"/>
                <a:ea typeface="Cambria" pitchFamily="34" charset="-122"/>
                <a:cs typeface="Cambria" pitchFamily="34" charset="-120"/>
              </a:rPr>
              <a:t>Three things need to work: Python, Jupyter, and GitHub.</a:t>
            </a:r>
            <a:endParaRPr lang="en-US" sz="2700" dirty="0"/>
          </a:p>
        </p:txBody>
      </p:sp>
      <p:sp>
        <p:nvSpPr>
          <p:cNvPr id="8" name="Shape 5"/>
          <p:cNvSpPr/>
          <p:nvPr/>
        </p:nvSpPr>
        <p:spPr>
          <a:xfrm>
            <a:off x="640080" y="2363724"/>
            <a:ext cx="164592" cy="164592"/>
          </a:xfrm>
          <a:prstGeom prst="rect">
            <a:avLst/>
          </a:prstGeom>
          <a:solidFill>
            <a:srgbClr val="006341"/>
          </a:solidFill>
          <a:ln/>
        </p:spPr>
        <p:txBody>
          <a:bodyPr/>
          <a:lstStyle/>
          <a:p>
            <a:endParaRPr lang="en-US"/>
          </a:p>
        </p:txBody>
      </p:sp>
      <p:sp>
        <p:nvSpPr>
          <p:cNvPr id="9" name="Text 6"/>
          <p:cNvSpPr/>
          <p:nvPr/>
        </p:nvSpPr>
        <p:spPr>
          <a:xfrm>
            <a:off x="1051560" y="2103120"/>
            <a:ext cx="10469880" cy="685800"/>
          </a:xfrm>
          <a:prstGeom prst="rect">
            <a:avLst/>
          </a:prstGeom>
          <a:noFill/>
          <a:ln/>
        </p:spPr>
        <p:txBody>
          <a:bodyPr wrap="square" lIns="0" tIns="0" rIns="0" bIns="0" rtlCol="0" anchor="ctr"/>
          <a:lstStyle/>
          <a:p>
            <a:pPr marL="0" indent="0">
              <a:buNone/>
            </a:pPr>
            <a:r>
              <a:rPr lang="en-US" sz="1700" dirty="0">
                <a:solidFill>
                  <a:srgbClr val="1A1A1A"/>
                </a:solidFill>
                <a:latin typeface="Arial" pitchFamily="34" charset="0"/>
                <a:ea typeface="Arial" pitchFamily="34" charset="-122"/>
                <a:cs typeface="Arial" pitchFamily="34" charset="-120"/>
              </a:rPr>
              <a:t>Python 3.11+ installed and runnable from a terminal</a:t>
            </a:r>
            <a:endParaRPr lang="en-US" sz="1700" dirty="0"/>
          </a:p>
        </p:txBody>
      </p:sp>
      <p:sp>
        <p:nvSpPr>
          <p:cNvPr id="10" name="Shape 7"/>
          <p:cNvSpPr/>
          <p:nvPr/>
        </p:nvSpPr>
        <p:spPr>
          <a:xfrm>
            <a:off x="640080" y="3049524"/>
            <a:ext cx="164592" cy="164592"/>
          </a:xfrm>
          <a:prstGeom prst="rect">
            <a:avLst/>
          </a:prstGeom>
          <a:solidFill>
            <a:srgbClr val="006341"/>
          </a:solidFill>
          <a:ln/>
        </p:spPr>
        <p:txBody>
          <a:bodyPr/>
          <a:lstStyle/>
          <a:p>
            <a:endParaRPr lang="en-US"/>
          </a:p>
        </p:txBody>
      </p:sp>
      <p:sp>
        <p:nvSpPr>
          <p:cNvPr id="11" name="Text 8"/>
          <p:cNvSpPr/>
          <p:nvPr/>
        </p:nvSpPr>
        <p:spPr>
          <a:xfrm>
            <a:off x="1051560" y="2788920"/>
            <a:ext cx="10469880" cy="685800"/>
          </a:xfrm>
          <a:prstGeom prst="rect">
            <a:avLst/>
          </a:prstGeom>
          <a:noFill/>
          <a:ln/>
        </p:spPr>
        <p:txBody>
          <a:bodyPr wrap="square" lIns="0" tIns="0" rIns="0" bIns="0" rtlCol="0" anchor="ctr"/>
          <a:lstStyle/>
          <a:p>
            <a:pPr marL="0" indent="0">
              <a:buNone/>
            </a:pPr>
            <a:r>
              <a:rPr lang="en-US" sz="1700" dirty="0">
                <a:solidFill>
                  <a:srgbClr val="1A1A1A"/>
                </a:solidFill>
                <a:latin typeface="Arial" pitchFamily="34" charset="0"/>
                <a:ea typeface="Arial" pitchFamily="34" charset="-122"/>
                <a:cs typeface="Arial" pitchFamily="34" charset="-120"/>
              </a:rPr>
              <a:t>Jupyter (via VS Code's Jupyter extension, or JupyterLab) opening and running a notebook</a:t>
            </a:r>
            <a:endParaRPr lang="en-US" sz="1700" dirty="0"/>
          </a:p>
        </p:txBody>
      </p:sp>
      <p:sp>
        <p:nvSpPr>
          <p:cNvPr id="12" name="Shape 9"/>
          <p:cNvSpPr/>
          <p:nvPr/>
        </p:nvSpPr>
        <p:spPr>
          <a:xfrm>
            <a:off x="640080" y="3735324"/>
            <a:ext cx="164592" cy="164592"/>
          </a:xfrm>
          <a:prstGeom prst="rect">
            <a:avLst/>
          </a:prstGeom>
          <a:solidFill>
            <a:srgbClr val="006341"/>
          </a:solidFill>
          <a:ln/>
        </p:spPr>
        <p:txBody>
          <a:bodyPr/>
          <a:lstStyle/>
          <a:p>
            <a:endParaRPr lang="en-US"/>
          </a:p>
        </p:txBody>
      </p:sp>
      <p:sp>
        <p:nvSpPr>
          <p:cNvPr id="13" name="Text 10"/>
          <p:cNvSpPr/>
          <p:nvPr/>
        </p:nvSpPr>
        <p:spPr>
          <a:xfrm>
            <a:off x="1051560" y="3474720"/>
            <a:ext cx="10469880" cy="685800"/>
          </a:xfrm>
          <a:prstGeom prst="rect">
            <a:avLst/>
          </a:prstGeom>
          <a:noFill/>
          <a:ln/>
        </p:spPr>
        <p:txBody>
          <a:bodyPr wrap="square" lIns="0" tIns="0" rIns="0" bIns="0" rtlCol="0" anchor="ctr"/>
          <a:lstStyle/>
          <a:p>
            <a:pPr marL="0" indent="0">
              <a:buNone/>
            </a:pPr>
            <a:r>
              <a:rPr lang="en-US" sz="1700" dirty="0">
                <a:solidFill>
                  <a:srgbClr val="1A1A1A"/>
                </a:solidFill>
                <a:latin typeface="Arial" pitchFamily="34" charset="0"/>
                <a:ea typeface="Arial" pitchFamily="34" charset="-122"/>
                <a:cs typeface="Arial" pitchFamily="34" charset="-120"/>
              </a:rPr>
              <a:t>A GitHub account created, ready for Week 6</a:t>
            </a:r>
            <a:endParaRPr lang="en-US" sz="1700" dirty="0"/>
          </a:p>
        </p:txBody>
      </p:sp>
      <p:sp>
        <p:nvSpPr>
          <p:cNvPr id="14" name="Shape 11"/>
          <p:cNvSpPr/>
          <p:nvPr/>
        </p:nvSpPr>
        <p:spPr>
          <a:xfrm>
            <a:off x="640080" y="4421124"/>
            <a:ext cx="164592" cy="164592"/>
          </a:xfrm>
          <a:prstGeom prst="rect">
            <a:avLst/>
          </a:prstGeom>
          <a:solidFill>
            <a:srgbClr val="006341"/>
          </a:solidFill>
          <a:ln/>
        </p:spPr>
        <p:txBody>
          <a:bodyPr/>
          <a:lstStyle/>
          <a:p>
            <a:endParaRPr lang="en-US"/>
          </a:p>
        </p:txBody>
      </p:sp>
      <p:sp>
        <p:nvSpPr>
          <p:cNvPr id="15" name="Text 12"/>
          <p:cNvSpPr/>
          <p:nvPr/>
        </p:nvSpPr>
        <p:spPr>
          <a:xfrm>
            <a:off x="1051560" y="4160520"/>
            <a:ext cx="10469880" cy="685800"/>
          </a:xfrm>
          <a:prstGeom prst="rect">
            <a:avLst/>
          </a:prstGeom>
          <a:noFill/>
          <a:ln/>
        </p:spPr>
        <p:txBody>
          <a:bodyPr wrap="square" lIns="0" tIns="0" rIns="0" bIns="0" rtlCol="0" anchor="ctr"/>
          <a:lstStyle/>
          <a:p>
            <a:pPr marL="0" indent="0">
              <a:buNone/>
            </a:pPr>
            <a:r>
              <a:rPr lang="en-US" sz="1700" dirty="0">
                <a:solidFill>
                  <a:srgbClr val="1A1A1A"/>
                </a:solidFill>
                <a:latin typeface="Arial" pitchFamily="34" charset="0"/>
                <a:ea typeface="Arial" pitchFamily="34" charset="-122"/>
                <a:cs typeface="Arial" pitchFamily="34" charset="-120"/>
              </a:rPr>
              <a:t>Your Algonquin IT account confirmed working: required for Netlab access later this term</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1910</Words>
  <Application>Microsoft Office PowerPoint</Application>
  <PresentationFormat>Widescreen</PresentationFormat>
  <Paragraphs>180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Amir Andaliby Joghataie (Nokia)</cp:lastModifiedBy>
  <cp:revision>5</cp:revision>
  <dcterms:created xsi:type="dcterms:W3CDTF">2026-08-21T17:49:11Z</dcterms:created>
  <dcterms:modified xsi:type="dcterms:W3CDTF">2026-09-14T15:49:23Z</dcterms:modified>
</cp:coreProperties>
</file>